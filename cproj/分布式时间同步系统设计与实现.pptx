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  <p:sldMasterId id="2147483714" r:id="rId2"/>
    <p:sldMasterId id="2147483730" r:id="rId3"/>
  </p:sldMasterIdLst>
  <p:notesMasterIdLst>
    <p:notesMasterId r:id="rId35"/>
  </p:notesMasterIdLst>
  <p:sldIdLst>
    <p:sldId id="626" r:id="rId4"/>
    <p:sldId id="671" r:id="rId5"/>
    <p:sldId id="672" r:id="rId6"/>
    <p:sldId id="688" r:id="rId7"/>
    <p:sldId id="674" r:id="rId8"/>
    <p:sldId id="675" r:id="rId9"/>
    <p:sldId id="676" r:id="rId10"/>
    <p:sldId id="677" r:id="rId11"/>
    <p:sldId id="678" r:id="rId12"/>
    <p:sldId id="679" r:id="rId13"/>
    <p:sldId id="680" r:id="rId14"/>
    <p:sldId id="681" r:id="rId15"/>
    <p:sldId id="682" r:id="rId16"/>
    <p:sldId id="683" r:id="rId17"/>
    <p:sldId id="684" r:id="rId18"/>
    <p:sldId id="685" r:id="rId19"/>
    <p:sldId id="686" r:id="rId20"/>
    <p:sldId id="687" r:id="rId21"/>
    <p:sldId id="648" r:id="rId22"/>
    <p:sldId id="665" r:id="rId23"/>
    <p:sldId id="666" r:id="rId24"/>
    <p:sldId id="667" r:id="rId25"/>
    <p:sldId id="668" r:id="rId26"/>
    <p:sldId id="634" r:id="rId27"/>
    <p:sldId id="669" r:id="rId28"/>
    <p:sldId id="650" r:id="rId29"/>
    <p:sldId id="638" r:id="rId30"/>
    <p:sldId id="637" r:id="rId31"/>
    <p:sldId id="664" r:id="rId32"/>
    <p:sldId id="689" r:id="rId33"/>
    <p:sldId id="663" r:id="rId3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076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7CB6"/>
    <a:srgbClr val="0000CC"/>
    <a:srgbClr val="D9D9D9"/>
    <a:srgbClr val="000099"/>
    <a:srgbClr val="FFFFCC"/>
    <a:srgbClr val="53A9C1"/>
    <a:srgbClr val="00B0F0"/>
    <a:srgbClr val="4F81BD"/>
    <a:srgbClr val="DCE6F2"/>
    <a:srgbClr val="385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3129" autoAdjust="0"/>
  </p:normalViewPr>
  <p:slideViewPr>
    <p:cSldViewPr snapToGrid="0">
      <p:cViewPr>
        <p:scale>
          <a:sx n="100" d="100"/>
          <a:sy n="100" d="100"/>
        </p:scale>
        <p:origin x="-1080" y="-82"/>
      </p:cViewPr>
      <p:guideLst>
        <p:guide orient="horz" pos="1076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528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238A398F-8CA9-4A5A-9EDD-775BFC2E3CC7}" type="datetimeFigureOut">
              <a:rPr lang="zh-CN" altLang="en-US" smtClean="0"/>
              <a:pPr/>
              <a:t>2026/8/9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090E7777-3ED8-4D1B-8D62-F8A1CA41119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9117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E7777-3ED8-4D1B-8D62-F8A1CA411190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7279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E7777-3ED8-4D1B-8D62-F8A1CA411190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5605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0E7777-3ED8-4D1B-8D62-F8A1CA411190}" type="slidenum">
              <a:rPr lang="zh-CN" altLang="en-US" smtClean="0"/>
              <a:pPr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6410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326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431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085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541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28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63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01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484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71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11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05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0474"/>
            <a:ext cx="7239000" cy="45720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731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916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475660" y="3841750"/>
            <a:ext cx="7668343" cy="890588"/>
          </a:xfrm>
        </p:spPr>
        <p:txBody>
          <a:bodyPr anchor="ctr" anchorCtr="0"/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    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49821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A12FCC-CA57-48BB-820A-366649B676A2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2127" y="252744"/>
            <a:ext cx="7886700" cy="421481"/>
          </a:xfrm>
        </p:spPr>
        <p:txBody>
          <a:bodyPr>
            <a:noAutofit/>
          </a:bodyPr>
          <a:lstStyle>
            <a:lvl1pPr>
              <a:defRPr sz="2100">
                <a:latin typeface="Arial" pitchFamily="34" charset="0"/>
                <a:ea typeface="微软雅黑" pitchFamily="34" charset="-122"/>
                <a:cs typeface="Arial" pitchFamily="34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079294"/>
      </p:ext>
    </p:extLst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"/>
          <p:cNvSpPr>
            <a:spLocks noGrp="1" noChangeArrowheads="1"/>
          </p:cNvSpPr>
          <p:nvPr>
            <p:ph idx="1"/>
          </p:nvPr>
        </p:nvSpPr>
        <p:spPr bwMode="auto">
          <a:xfrm>
            <a:off x="457200" y="1080369"/>
            <a:ext cx="8229600" cy="3219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39502"/>
            <a:ext cx="771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4578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3" descr="汇报提纲封面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857250"/>
            <a:ext cx="9144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0" descr="H3C_彩色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000" t="-19835" r="-10001" b="-19008"/>
          <a:stretch>
            <a:fillRect/>
          </a:stretch>
        </p:blipFill>
        <p:spPr bwMode="auto">
          <a:xfrm>
            <a:off x="7715250" y="219075"/>
            <a:ext cx="1177926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23"/>
          <p:cNvSpPr txBox="1">
            <a:spLocks noChangeArrowheads="1"/>
          </p:cNvSpPr>
          <p:nvPr userDrawn="1"/>
        </p:nvSpPr>
        <p:spPr bwMode="auto">
          <a:xfrm>
            <a:off x="304809" y="4687500"/>
            <a:ext cx="1523471" cy="2077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68556" tIns="34283" rIns="68556" bIns="34283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900">
                <a:solidFill>
                  <a:prstClr val="black">
                    <a:lumMod val="95000"/>
                    <a:lumOff val="5000"/>
                  </a:prstClr>
                </a:solidFill>
                <a:latin typeface="微软雅黑" pitchFamily="34" charset="-122"/>
              </a:rPr>
              <a:t>杭州华三通信技术有限公司</a:t>
            </a:r>
          </a:p>
        </p:txBody>
      </p:sp>
    </p:spTree>
    <p:extLst>
      <p:ext uri="{BB962C8B-B14F-4D97-AF65-F5344CB8AC3E}">
        <p14:creationId xmlns:p14="http://schemas.microsoft.com/office/powerpoint/2010/main" val="20206035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999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30" indent="0">
              <a:buNone/>
              <a:defRPr sz="1400"/>
            </a:lvl2pPr>
            <a:lvl3pPr marL="685664" indent="0">
              <a:buNone/>
              <a:defRPr sz="1200"/>
            </a:lvl3pPr>
            <a:lvl4pPr marL="1028496" indent="0">
              <a:buNone/>
              <a:defRPr sz="1100"/>
            </a:lvl4pPr>
            <a:lvl5pPr marL="1371328" indent="0">
              <a:buNone/>
              <a:defRPr sz="1100"/>
            </a:lvl5pPr>
            <a:lvl6pPr marL="1714163" indent="0">
              <a:buNone/>
              <a:defRPr sz="1100"/>
            </a:lvl6pPr>
            <a:lvl7pPr marL="2056991" indent="0">
              <a:buNone/>
              <a:defRPr sz="1100"/>
            </a:lvl7pPr>
            <a:lvl8pPr marL="2399820" indent="0">
              <a:buNone/>
              <a:defRPr sz="1100"/>
            </a:lvl8pPr>
            <a:lvl9pPr marL="274265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973216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2870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2870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7212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30" indent="0">
              <a:buNone/>
              <a:defRPr sz="1500" b="1"/>
            </a:lvl2pPr>
            <a:lvl3pPr marL="685664" indent="0">
              <a:buNone/>
              <a:defRPr sz="1400" b="1"/>
            </a:lvl3pPr>
            <a:lvl4pPr marL="1028496" indent="0">
              <a:buNone/>
              <a:defRPr sz="1200" b="1"/>
            </a:lvl4pPr>
            <a:lvl5pPr marL="1371328" indent="0">
              <a:buNone/>
              <a:defRPr sz="1200" b="1"/>
            </a:lvl5pPr>
            <a:lvl6pPr marL="1714163" indent="0">
              <a:buNone/>
              <a:defRPr sz="1200" b="1"/>
            </a:lvl6pPr>
            <a:lvl7pPr marL="2056991" indent="0">
              <a:buNone/>
              <a:defRPr sz="1200" b="1"/>
            </a:lvl7pPr>
            <a:lvl8pPr marL="2399820" indent="0">
              <a:buNone/>
              <a:defRPr sz="1200" b="1"/>
            </a:lvl8pPr>
            <a:lvl9pPr marL="274265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4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30" indent="0">
              <a:buNone/>
              <a:defRPr sz="1500" b="1"/>
            </a:lvl2pPr>
            <a:lvl3pPr marL="685664" indent="0">
              <a:buNone/>
              <a:defRPr sz="1400" b="1"/>
            </a:lvl3pPr>
            <a:lvl4pPr marL="1028496" indent="0">
              <a:buNone/>
              <a:defRPr sz="1200" b="1"/>
            </a:lvl4pPr>
            <a:lvl5pPr marL="1371328" indent="0">
              <a:buNone/>
              <a:defRPr sz="1200" b="1"/>
            </a:lvl5pPr>
            <a:lvl6pPr marL="1714163" indent="0">
              <a:buNone/>
              <a:defRPr sz="1200" b="1"/>
            </a:lvl6pPr>
            <a:lvl7pPr marL="2056991" indent="0">
              <a:buNone/>
              <a:defRPr sz="1200" b="1"/>
            </a:lvl7pPr>
            <a:lvl8pPr marL="2399820" indent="0">
              <a:buNone/>
              <a:defRPr sz="1200" b="1"/>
            </a:lvl8pPr>
            <a:lvl9pPr marL="274265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4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9886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568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3799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7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100"/>
            </a:lvl1pPr>
            <a:lvl2pPr marL="342830" indent="0">
              <a:buNone/>
              <a:defRPr sz="900"/>
            </a:lvl2pPr>
            <a:lvl3pPr marL="685664" indent="0">
              <a:buNone/>
              <a:defRPr sz="800"/>
            </a:lvl3pPr>
            <a:lvl4pPr marL="1028496" indent="0">
              <a:buNone/>
              <a:defRPr sz="700"/>
            </a:lvl4pPr>
            <a:lvl5pPr marL="1371328" indent="0">
              <a:buNone/>
              <a:defRPr sz="700"/>
            </a:lvl5pPr>
            <a:lvl6pPr marL="1714163" indent="0">
              <a:buNone/>
              <a:defRPr sz="700"/>
            </a:lvl6pPr>
            <a:lvl7pPr marL="2056991" indent="0">
              <a:buNone/>
              <a:defRPr sz="700"/>
            </a:lvl7pPr>
            <a:lvl8pPr marL="2399820" indent="0">
              <a:buNone/>
              <a:defRPr sz="700"/>
            </a:lvl8pPr>
            <a:lvl9pPr marL="2742650" indent="0">
              <a:buNone/>
              <a:defRPr sz="7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032337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30" indent="0">
              <a:buNone/>
              <a:defRPr sz="2100"/>
            </a:lvl2pPr>
            <a:lvl3pPr marL="685664" indent="0">
              <a:buNone/>
              <a:defRPr sz="1800"/>
            </a:lvl3pPr>
            <a:lvl4pPr marL="1028496" indent="0">
              <a:buNone/>
              <a:defRPr sz="1500"/>
            </a:lvl4pPr>
            <a:lvl5pPr marL="1371328" indent="0">
              <a:buNone/>
              <a:defRPr sz="1500"/>
            </a:lvl5pPr>
            <a:lvl6pPr marL="1714163" indent="0">
              <a:buNone/>
              <a:defRPr sz="1500"/>
            </a:lvl6pPr>
            <a:lvl7pPr marL="2056991" indent="0">
              <a:buNone/>
              <a:defRPr sz="1500"/>
            </a:lvl7pPr>
            <a:lvl8pPr marL="2399820" indent="0">
              <a:buNone/>
              <a:defRPr sz="1500"/>
            </a:lvl8pPr>
            <a:lvl9pPr marL="2742650" indent="0">
              <a:buNone/>
              <a:defRPr sz="15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11"/>
            <a:ext cx="5486400" cy="603647"/>
          </a:xfrm>
        </p:spPr>
        <p:txBody>
          <a:bodyPr/>
          <a:lstStyle>
            <a:lvl1pPr marL="0" indent="0">
              <a:buNone/>
              <a:defRPr sz="1100"/>
            </a:lvl1pPr>
            <a:lvl2pPr marL="342830" indent="0">
              <a:buNone/>
              <a:defRPr sz="900"/>
            </a:lvl2pPr>
            <a:lvl3pPr marL="685664" indent="0">
              <a:buNone/>
              <a:defRPr sz="800"/>
            </a:lvl3pPr>
            <a:lvl4pPr marL="1028496" indent="0">
              <a:buNone/>
              <a:defRPr sz="700"/>
            </a:lvl4pPr>
            <a:lvl5pPr marL="1371328" indent="0">
              <a:buNone/>
              <a:defRPr sz="700"/>
            </a:lvl5pPr>
            <a:lvl6pPr marL="1714163" indent="0">
              <a:buNone/>
              <a:defRPr sz="700"/>
            </a:lvl6pPr>
            <a:lvl7pPr marL="2056991" indent="0">
              <a:buNone/>
              <a:defRPr sz="700"/>
            </a:lvl7pPr>
            <a:lvl8pPr marL="2399820" indent="0">
              <a:buNone/>
              <a:defRPr sz="700"/>
            </a:lvl8pPr>
            <a:lvl9pPr marL="2742650" indent="0">
              <a:buNone/>
              <a:defRPr sz="7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124274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7907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601"/>
            <a:ext cx="2057400" cy="419457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601"/>
            <a:ext cx="6019800" cy="419457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1143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8568" tIns="34289" rIns="68568" bIns="34289"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506D573-E214-4E5E-B903-4FBE676CDDAA}" type="datetime1">
              <a:rPr lang="en-US">
                <a:solidFill>
                  <a:prstClr val="black"/>
                </a:solidFill>
                <a:latin typeface="Arial" pitchFamily="34" charset="0"/>
                <a:ea typeface="宋体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8/9/2026</a:t>
            </a:fld>
            <a:endParaRPr lang="zh-CN" altLang="en-US">
              <a:solidFill>
                <a:srgbClr val="000000"/>
              </a:solidFill>
              <a:latin typeface="Arial" pitchFamily="34" charset="0"/>
              <a:ea typeface="宋体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lIns="68568" tIns="34289" rIns="68568" bIns="34289"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8568" tIns="34289" rIns="68568" bIns="34289"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014507D-0B74-4C53-B20C-278690987ECD}" type="slidenum">
              <a:rPr lang="zh-CN" altLang="en-US">
                <a:solidFill>
                  <a:prstClr val="black"/>
                </a:solidFill>
                <a:latin typeface="Arial" pitchFamily="34" charset="0"/>
                <a:ea typeface="宋体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  <a:latin typeface="Arial" pitchFamily="34" charset="0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9735619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6262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436" y="171458"/>
            <a:ext cx="8363938" cy="457049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89436" y="1085858"/>
            <a:ext cx="8363938" cy="148017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294994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946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515" y="4774659"/>
            <a:ext cx="3456731" cy="35664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007C0-D7BF-473F-AE3F-7740FFA17CB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5428-ED61-46A5-B104-0ECFC329740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353648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007C0-D7BF-473F-AE3F-7740FFA17CB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5428-ED61-46A5-B104-0ECFC329740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955" y="4796910"/>
            <a:ext cx="3456731" cy="3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54562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515" y="4774659"/>
            <a:ext cx="3456731" cy="35664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007C0-D7BF-473F-AE3F-7740FFA17CB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5428-ED61-46A5-B104-0ECFC329740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481836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007C0-D7BF-473F-AE3F-7740FFA17CB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5428-ED61-46A5-B104-0ECFC329740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955" y="4796910"/>
            <a:ext cx="3456731" cy="3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18011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007C0-D7BF-473F-AE3F-7740FFA17CB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5428-ED61-46A5-B104-0ECFC329740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955" y="4796910"/>
            <a:ext cx="3456731" cy="3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19241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955" y="4796910"/>
            <a:ext cx="3456731" cy="33835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777" y="261598"/>
            <a:ext cx="5384347" cy="350724"/>
          </a:xfrm>
        </p:spPr>
        <p:txBody>
          <a:bodyPr>
            <a:noAutofit/>
          </a:bodyPr>
          <a:lstStyle>
            <a:lvl1pPr>
              <a:defRPr sz="2700" b="1">
                <a:solidFill>
                  <a:srgbClr val="C00000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007C0-D7BF-473F-AE3F-7740FFA17CB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966176" y="4767262"/>
            <a:ext cx="2057400" cy="273844"/>
          </a:xfrm>
        </p:spPr>
        <p:txBody>
          <a:bodyPr/>
          <a:lstStyle/>
          <a:p>
            <a:fld id="{C2BD5428-ED61-46A5-B104-0ECFC329740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标题 1"/>
          <p:cNvSpPr txBox="1">
            <a:spLocks/>
          </p:cNvSpPr>
          <p:nvPr userDrawn="1"/>
        </p:nvSpPr>
        <p:spPr>
          <a:xfrm>
            <a:off x="7849580" y="253849"/>
            <a:ext cx="1083255" cy="35072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7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H3C</a:t>
            </a:r>
            <a:endParaRPr lang="zh-CN" altLang="en-US" sz="2700" dirty="0">
              <a:latin typeface="Verdana" panose="020B0604030504040204" pitchFamily="34" charset="0"/>
              <a:ea typeface="Arial Unicode MS" panose="020B0604020202020204" pitchFamily="34" charset="-122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41553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007C0-D7BF-473F-AE3F-7740FFA17CB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5428-ED61-46A5-B104-0ECFC329740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955" y="4796910"/>
            <a:ext cx="3456731" cy="3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245317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007C0-D7BF-473F-AE3F-7740FFA17CB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5428-ED61-46A5-B104-0ECFC329740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955" y="4796910"/>
            <a:ext cx="3456731" cy="3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180923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007C0-D7BF-473F-AE3F-7740FFA17CB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5428-ED61-46A5-B104-0ECFC329740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955" y="4796910"/>
            <a:ext cx="3456731" cy="3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22058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007C0-D7BF-473F-AE3F-7740FFA17CB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5428-ED61-46A5-B104-0ECFC329740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955" y="4796910"/>
            <a:ext cx="3456731" cy="3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43033"/>
      </p:ext>
    </p:extLst>
  </p:cSld>
  <p:clrMapOvr>
    <a:masterClrMapping/>
  </p:clrMapOvr>
  <p:transition spd="slow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007C0-D7BF-473F-AE3F-7740FFA17CB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5428-ED61-46A5-B104-0ECFC329740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955" y="4796910"/>
            <a:ext cx="3456731" cy="3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485316"/>
      </p:ext>
    </p:extLst>
  </p:cSld>
  <p:clrMapOvr>
    <a:masterClrMapping/>
  </p:clrMapOvr>
  <p:transition spd="slow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D771C4-E4B1-4B9B-93A5-CBDADE073C4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725999"/>
      </p:ext>
    </p:extLst>
  </p:cSld>
  <p:clrMapOvr>
    <a:masterClrMapping/>
  </p:clrMapOvr>
  <p:transition spd="slow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16"/>
          <p:cNvSpPr>
            <a:spLocks noChangeArrowheads="1"/>
          </p:cNvSpPr>
          <p:nvPr userDrawn="1"/>
        </p:nvSpPr>
        <p:spPr bwMode="auto">
          <a:xfrm>
            <a:off x="4148171" y="3162301"/>
            <a:ext cx="833150" cy="72008"/>
          </a:xfrm>
          <a:prstGeom prst="ellipse">
            <a:avLst/>
          </a:prstGeom>
          <a:solidFill>
            <a:srgbClr val="E1EFFA"/>
          </a:solidFill>
          <a:ln>
            <a:noFill/>
          </a:ln>
          <a:effectLst>
            <a:outerShdw blurRad="152400" dist="673100" dir="5400000" sx="76000" sy="76000" rotWithShape="0">
              <a:prstClr val="black">
                <a:alpha val="15000"/>
              </a:prstClr>
            </a:outerShdw>
          </a:effectLst>
          <a:ex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grpSp>
        <p:nvGrpSpPr>
          <p:cNvPr id="46" name="组合 45"/>
          <p:cNvGrpSpPr>
            <a:grpSpLocks noChangeAspect="1"/>
          </p:cNvGrpSpPr>
          <p:nvPr userDrawn="1"/>
        </p:nvGrpSpPr>
        <p:grpSpPr>
          <a:xfrm>
            <a:off x="3351290" y="1955349"/>
            <a:ext cx="2458593" cy="1332054"/>
            <a:chOff x="3228358" y="1888743"/>
            <a:chExt cx="2704452" cy="1465259"/>
          </a:xfrm>
        </p:grpSpPr>
        <p:grpSp>
          <p:nvGrpSpPr>
            <p:cNvPr id="25" name="组合 24"/>
            <p:cNvGrpSpPr>
              <a:grpSpLocks noChangeAspect="1"/>
            </p:cNvGrpSpPr>
            <p:nvPr userDrawn="1"/>
          </p:nvGrpSpPr>
          <p:grpSpPr>
            <a:xfrm>
              <a:off x="3228358" y="3175490"/>
              <a:ext cx="2704452" cy="178512"/>
              <a:chOff x="2170807" y="3507854"/>
              <a:chExt cx="5772151" cy="381000"/>
            </a:xfrm>
          </p:grpSpPr>
          <p:sp>
            <p:nvSpPr>
              <p:cNvPr id="18" name="Oval 11"/>
              <p:cNvSpPr>
                <a:spLocks noChangeArrowheads="1"/>
              </p:cNvSpPr>
              <p:nvPr userDrawn="1"/>
            </p:nvSpPr>
            <p:spPr bwMode="auto">
              <a:xfrm>
                <a:off x="3074095" y="3561829"/>
                <a:ext cx="277813" cy="279400"/>
              </a:xfrm>
              <a:prstGeom prst="ellipse">
                <a:avLst/>
              </a:prstGeom>
              <a:solidFill>
                <a:srgbClr val="8594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Oval 12"/>
              <p:cNvSpPr>
                <a:spLocks noChangeArrowheads="1"/>
              </p:cNvSpPr>
              <p:nvPr userDrawn="1"/>
            </p:nvSpPr>
            <p:spPr bwMode="auto">
              <a:xfrm>
                <a:off x="3963095" y="3531666"/>
                <a:ext cx="333375" cy="333375"/>
              </a:xfrm>
              <a:prstGeom prst="ellipse">
                <a:avLst/>
              </a:prstGeom>
              <a:solidFill>
                <a:srgbClr val="6678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20" name="Oval 13"/>
              <p:cNvSpPr>
                <a:spLocks noChangeArrowheads="1"/>
              </p:cNvSpPr>
              <p:nvPr userDrawn="1"/>
            </p:nvSpPr>
            <p:spPr bwMode="auto">
              <a:xfrm>
                <a:off x="5804595" y="3531666"/>
                <a:ext cx="333375" cy="333375"/>
              </a:xfrm>
              <a:prstGeom prst="ellipse">
                <a:avLst/>
              </a:prstGeom>
              <a:solidFill>
                <a:srgbClr val="6678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21" name="Oval 14"/>
              <p:cNvSpPr>
                <a:spLocks noChangeArrowheads="1"/>
              </p:cNvSpPr>
              <p:nvPr userDrawn="1"/>
            </p:nvSpPr>
            <p:spPr bwMode="auto">
              <a:xfrm>
                <a:off x="6749157" y="3561829"/>
                <a:ext cx="279400" cy="279400"/>
              </a:xfrm>
              <a:prstGeom prst="ellipse">
                <a:avLst/>
              </a:prstGeom>
              <a:solidFill>
                <a:srgbClr val="8594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Oval 16"/>
              <p:cNvSpPr>
                <a:spLocks noChangeArrowheads="1"/>
              </p:cNvSpPr>
              <p:nvPr userDrawn="1"/>
            </p:nvSpPr>
            <p:spPr bwMode="auto">
              <a:xfrm>
                <a:off x="4860032" y="3507854"/>
                <a:ext cx="381000" cy="381000"/>
              </a:xfrm>
              <a:prstGeom prst="ellipse">
                <a:avLst/>
              </a:prstGeom>
              <a:solidFill>
                <a:srgbClr val="F25050"/>
              </a:solidFill>
              <a:ln>
                <a:noFill/>
              </a:ln>
              <a:effectLst>
                <a:glow rad="228600">
                  <a:srgbClr val="F25050">
                    <a:alpha val="40000"/>
                  </a:srgbClr>
                </a:glo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Oval 17"/>
              <p:cNvSpPr>
                <a:spLocks noChangeArrowheads="1"/>
              </p:cNvSpPr>
              <p:nvPr userDrawn="1"/>
            </p:nvSpPr>
            <p:spPr bwMode="auto">
              <a:xfrm>
                <a:off x="7700070" y="3579291"/>
                <a:ext cx="242888" cy="242888"/>
              </a:xfrm>
              <a:prstGeom prst="ellipse">
                <a:avLst/>
              </a:prstGeom>
              <a:solidFill>
                <a:srgbClr val="A9B4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Oval 18"/>
              <p:cNvSpPr>
                <a:spLocks noChangeArrowheads="1"/>
              </p:cNvSpPr>
              <p:nvPr userDrawn="1"/>
            </p:nvSpPr>
            <p:spPr bwMode="auto">
              <a:xfrm>
                <a:off x="2170807" y="3579291"/>
                <a:ext cx="242888" cy="242888"/>
              </a:xfrm>
              <a:prstGeom prst="ellipse">
                <a:avLst/>
              </a:prstGeom>
              <a:solidFill>
                <a:srgbClr val="A9B4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26" name="Group 4"/>
            <p:cNvGrpSpPr>
              <a:grpSpLocks noChangeAspect="1"/>
            </p:cNvGrpSpPr>
            <p:nvPr userDrawn="1"/>
          </p:nvGrpSpPr>
          <p:grpSpPr bwMode="auto">
            <a:xfrm>
              <a:off x="3606558" y="1888743"/>
              <a:ext cx="1922056" cy="808182"/>
              <a:chOff x="2143" y="1311"/>
              <a:chExt cx="1465" cy="616"/>
            </a:xfrm>
          </p:grpSpPr>
          <p:sp>
            <p:nvSpPr>
              <p:cNvPr id="28" name="Freeform 5"/>
              <p:cNvSpPr>
                <a:spLocks noEditPoints="1"/>
              </p:cNvSpPr>
              <p:nvPr userDrawn="1"/>
            </p:nvSpPr>
            <p:spPr bwMode="auto">
              <a:xfrm>
                <a:off x="2150" y="1311"/>
                <a:ext cx="1457" cy="365"/>
              </a:xfrm>
              <a:custGeom>
                <a:avLst/>
                <a:gdLst>
                  <a:gd name="T0" fmla="*/ 1451 w 1451"/>
                  <a:gd name="T1" fmla="*/ 356 h 363"/>
                  <a:gd name="T2" fmla="*/ 1304 w 1451"/>
                  <a:gd name="T3" fmla="*/ 363 h 363"/>
                  <a:gd name="T4" fmla="*/ 1046 w 1451"/>
                  <a:gd name="T5" fmla="*/ 317 h 363"/>
                  <a:gd name="T6" fmla="*/ 978 w 1451"/>
                  <a:gd name="T7" fmla="*/ 182 h 363"/>
                  <a:gd name="T8" fmla="*/ 1043 w 1451"/>
                  <a:gd name="T9" fmla="*/ 46 h 363"/>
                  <a:gd name="T10" fmla="*/ 1298 w 1451"/>
                  <a:gd name="T11" fmla="*/ 0 h 363"/>
                  <a:gd name="T12" fmla="*/ 1451 w 1451"/>
                  <a:gd name="T13" fmla="*/ 5 h 363"/>
                  <a:gd name="T14" fmla="*/ 1451 w 1451"/>
                  <a:gd name="T15" fmla="*/ 61 h 363"/>
                  <a:gd name="T16" fmla="*/ 1321 w 1451"/>
                  <a:gd name="T17" fmla="*/ 47 h 363"/>
                  <a:gd name="T18" fmla="*/ 1163 w 1451"/>
                  <a:gd name="T19" fmla="*/ 85 h 363"/>
                  <a:gd name="T20" fmla="*/ 1125 w 1451"/>
                  <a:gd name="T21" fmla="*/ 181 h 363"/>
                  <a:gd name="T22" fmla="*/ 1177 w 1451"/>
                  <a:gd name="T23" fmla="*/ 283 h 363"/>
                  <a:gd name="T24" fmla="*/ 1326 w 1451"/>
                  <a:gd name="T25" fmla="*/ 312 h 363"/>
                  <a:gd name="T26" fmla="*/ 1451 w 1451"/>
                  <a:gd name="T27" fmla="*/ 301 h 363"/>
                  <a:gd name="T28" fmla="*/ 1451 w 1451"/>
                  <a:gd name="T29" fmla="*/ 356 h 363"/>
                  <a:gd name="T30" fmla="*/ 506 w 1451"/>
                  <a:gd name="T31" fmla="*/ 306 h 363"/>
                  <a:gd name="T32" fmla="*/ 675 w 1451"/>
                  <a:gd name="T33" fmla="*/ 319 h 363"/>
                  <a:gd name="T34" fmla="*/ 780 w 1451"/>
                  <a:gd name="T35" fmla="*/ 306 h 363"/>
                  <a:gd name="T36" fmla="*/ 813 w 1451"/>
                  <a:gd name="T37" fmla="*/ 261 h 363"/>
                  <a:gd name="T38" fmla="*/ 799 w 1451"/>
                  <a:gd name="T39" fmla="*/ 223 h 363"/>
                  <a:gd name="T40" fmla="*/ 747 w 1451"/>
                  <a:gd name="T41" fmla="*/ 200 h 363"/>
                  <a:gd name="T42" fmla="*/ 638 w 1451"/>
                  <a:gd name="T43" fmla="*/ 193 h 363"/>
                  <a:gd name="T44" fmla="*/ 556 w 1451"/>
                  <a:gd name="T45" fmla="*/ 193 h 363"/>
                  <a:gd name="T46" fmla="*/ 556 w 1451"/>
                  <a:gd name="T47" fmla="*/ 151 h 363"/>
                  <a:gd name="T48" fmla="*/ 632 w 1451"/>
                  <a:gd name="T49" fmla="*/ 150 h 363"/>
                  <a:gd name="T50" fmla="*/ 731 w 1451"/>
                  <a:gd name="T51" fmla="*/ 146 h 363"/>
                  <a:gd name="T52" fmla="*/ 782 w 1451"/>
                  <a:gd name="T53" fmla="*/ 126 h 363"/>
                  <a:gd name="T54" fmla="*/ 797 w 1451"/>
                  <a:gd name="T55" fmla="*/ 90 h 363"/>
                  <a:gd name="T56" fmla="*/ 775 w 1451"/>
                  <a:gd name="T57" fmla="*/ 55 h 363"/>
                  <a:gd name="T58" fmla="*/ 676 w 1451"/>
                  <a:gd name="T59" fmla="*/ 43 h 363"/>
                  <a:gd name="T60" fmla="*/ 513 w 1451"/>
                  <a:gd name="T61" fmla="*/ 55 h 363"/>
                  <a:gd name="T62" fmla="*/ 513 w 1451"/>
                  <a:gd name="T63" fmla="*/ 6 h 363"/>
                  <a:gd name="T64" fmla="*/ 692 w 1451"/>
                  <a:gd name="T65" fmla="*/ 0 h 363"/>
                  <a:gd name="T66" fmla="*/ 886 w 1451"/>
                  <a:gd name="T67" fmla="*/ 21 h 363"/>
                  <a:gd name="T68" fmla="*/ 933 w 1451"/>
                  <a:gd name="T69" fmla="*/ 83 h 363"/>
                  <a:gd name="T70" fmla="*/ 900 w 1451"/>
                  <a:gd name="T71" fmla="*/ 138 h 363"/>
                  <a:gd name="T72" fmla="*/ 820 w 1451"/>
                  <a:gd name="T73" fmla="*/ 168 h 363"/>
                  <a:gd name="T74" fmla="*/ 894 w 1451"/>
                  <a:gd name="T75" fmla="*/ 187 h 363"/>
                  <a:gd name="T76" fmla="*/ 937 w 1451"/>
                  <a:gd name="T77" fmla="*/ 216 h 363"/>
                  <a:gd name="T78" fmla="*/ 948 w 1451"/>
                  <a:gd name="T79" fmla="*/ 261 h 363"/>
                  <a:gd name="T80" fmla="*/ 899 w 1451"/>
                  <a:gd name="T81" fmla="*/ 336 h 363"/>
                  <a:gd name="T82" fmla="*/ 679 w 1451"/>
                  <a:gd name="T83" fmla="*/ 363 h 363"/>
                  <a:gd name="T84" fmla="*/ 506 w 1451"/>
                  <a:gd name="T85" fmla="*/ 355 h 363"/>
                  <a:gd name="T86" fmla="*/ 506 w 1451"/>
                  <a:gd name="T87" fmla="*/ 306 h 363"/>
                  <a:gd name="T88" fmla="*/ 0 w 1451"/>
                  <a:gd name="T89" fmla="*/ 363 h 363"/>
                  <a:gd name="T90" fmla="*/ 0 w 1451"/>
                  <a:gd name="T91" fmla="*/ 0 h 363"/>
                  <a:gd name="T92" fmla="*/ 125 w 1451"/>
                  <a:gd name="T93" fmla="*/ 0 h 363"/>
                  <a:gd name="T94" fmla="*/ 125 w 1451"/>
                  <a:gd name="T95" fmla="*/ 150 h 363"/>
                  <a:gd name="T96" fmla="*/ 339 w 1451"/>
                  <a:gd name="T97" fmla="*/ 150 h 363"/>
                  <a:gd name="T98" fmla="*/ 339 w 1451"/>
                  <a:gd name="T99" fmla="*/ 0 h 363"/>
                  <a:gd name="T100" fmla="*/ 464 w 1451"/>
                  <a:gd name="T101" fmla="*/ 0 h 363"/>
                  <a:gd name="T102" fmla="*/ 464 w 1451"/>
                  <a:gd name="T103" fmla="*/ 363 h 363"/>
                  <a:gd name="T104" fmla="*/ 339 w 1451"/>
                  <a:gd name="T105" fmla="*/ 363 h 363"/>
                  <a:gd name="T106" fmla="*/ 339 w 1451"/>
                  <a:gd name="T107" fmla="*/ 194 h 363"/>
                  <a:gd name="T108" fmla="*/ 125 w 1451"/>
                  <a:gd name="T109" fmla="*/ 194 h 363"/>
                  <a:gd name="T110" fmla="*/ 125 w 1451"/>
                  <a:gd name="T111" fmla="*/ 363 h 363"/>
                  <a:gd name="T112" fmla="*/ 0 w 1451"/>
                  <a:gd name="T113" fmla="*/ 363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51" h="363">
                    <a:moveTo>
                      <a:pt x="1451" y="356"/>
                    </a:moveTo>
                    <a:cubicBezTo>
                      <a:pt x="1404" y="360"/>
                      <a:pt x="1352" y="363"/>
                      <a:pt x="1304" y="363"/>
                    </a:cubicBezTo>
                    <a:cubicBezTo>
                      <a:pt x="1205" y="363"/>
                      <a:pt x="1094" y="351"/>
                      <a:pt x="1046" y="317"/>
                    </a:cubicBezTo>
                    <a:cubicBezTo>
                      <a:pt x="999" y="282"/>
                      <a:pt x="978" y="235"/>
                      <a:pt x="978" y="182"/>
                    </a:cubicBezTo>
                    <a:cubicBezTo>
                      <a:pt x="978" y="129"/>
                      <a:pt x="996" y="80"/>
                      <a:pt x="1043" y="46"/>
                    </a:cubicBezTo>
                    <a:cubicBezTo>
                      <a:pt x="1091" y="12"/>
                      <a:pt x="1196" y="0"/>
                      <a:pt x="1298" y="0"/>
                    </a:cubicBezTo>
                    <a:cubicBezTo>
                      <a:pt x="1368" y="0"/>
                      <a:pt x="1399" y="1"/>
                      <a:pt x="1451" y="5"/>
                    </a:cubicBezTo>
                    <a:cubicBezTo>
                      <a:pt x="1451" y="61"/>
                      <a:pt x="1451" y="61"/>
                      <a:pt x="1451" y="61"/>
                    </a:cubicBezTo>
                    <a:cubicBezTo>
                      <a:pt x="1396" y="50"/>
                      <a:pt x="1361" y="47"/>
                      <a:pt x="1321" y="47"/>
                    </a:cubicBezTo>
                    <a:cubicBezTo>
                      <a:pt x="1257" y="47"/>
                      <a:pt x="1203" y="54"/>
                      <a:pt x="1163" y="85"/>
                    </a:cubicBezTo>
                    <a:cubicBezTo>
                      <a:pt x="1132" y="108"/>
                      <a:pt x="1125" y="143"/>
                      <a:pt x="1125" y="181"/>
                    </a:cubicBezTo>
                    <a:cubicBezTo>
                      <a:pt x="1125" y="234"/>
                      <a:pt x="1142" y="261"/>
                      <a:pt x="1177" y="283"/>
                    </a:cubicBezTo>
                    <a:cubicBezTo>
                      <a:pt x="1215" y="307"/>
                      <a:pt x="1267" y="315"/>
                      <a:pt x="1326" y="312"/>
                    </a:cubicBezTo>
                    <a:cubicBezTo>
                      <a:pt x="1380" y="310"/>
                      <a:pt x="1399" y="309"/>
                      <a:pt x="1451" y="301"/>
                    </a:cubicBezTo>
                    <a:lnTo>
                      <a:pt x="1451" y="356"/>
                    </a:lnTo>
                    <a:close/>
                    <a:moveTo>
                      <a:pt x="506" y="306"/>
                    </a:moveTo>
                    <a:cubicBezTo>
                      <a:pt x="563" y="312"/>
                      <a:pt x="619" y="317"/>
                      <a:pt x="675" y="319"/>
                    </a:cubicBezTo>
                    <a:cubicBezTo>
                      <a:pt x="711" y="320"/>
                      <a:pt x="757" y="316"/>
                      <a:pt x="780" y="306"/>
                    </a:cubicBezTo>
                    <a:cubicBezTo>
                      <a:pt x="802" y="295"/>
                      <a:pt x="813" y="279"/>
                      <a:pt x="813" y="261"/>
                    </a:cubicBezTo>
                    <a:cubicBezTo>
                      <a:pt x="813" y="248"/>
                      <a:pt x="811" y="233"/>
                      <a:pt x="799" y="223"/>
                    </a:cubicBezTo>
                    <a:cubicBezTo>
                      <a:pt x="787" y="212"/>
                      <a:pt x="772" y="205"/>
                      <a:pt x="747" y="200"/>
                    </a:cubicBezTo>
                    <a:cubicBezTo>
                      <a:pt x="725" y="194"/>
                      <a:pt x="686" y="193"/>
                      <a:pt x="638" y="193"/>
                    </a:cubicBezTo>
                    <a:cubicBezTo>
                      <a:pt x="556" y="193"/>
                      <a:pt x="556" y="193"/>
                      <a:pt x="556" y="193"/>
                    </a:cubicBezTo>
                    <a:cubicBezTo>
                      <a:pt x="556" y="151"/>
                      <a:pt x="556" y="151"/>
                      <a:pt x="556" y="151"/>
                    </a:cubicBezTo>
                    <a:cubicBezTo>
                      <a:pt x="632" y="150"/>
                      <a:pt x="632" y="150"/>
                      <a:pt x="632" y="150"/>
                    </a:cubicBezTo>
                    <a:cubicBezTo>
                      <a:pt x="678" y="150"/>
                      <a:pt x="711" y="149"/>
                      <a:pt x="731" y="146"/>
                    </a:cubicBezTo>
                    <a:cubicBezTo>
                      <a:pt x="754" y="142"/>
                      <a:pt x="770" y="136"/>
                      <a:pt x="782" y="126"/>
                    </a:cubicBezTo>
                    <a:cubicBezTo>
                      <a:pt x="793" y="116"/>
                      <a:pt x="797" y="101"/>
                      <a:pt x="797" y="90"/>
                    </a:cubicBezTo>
                    <a:cubicBezTo>
                      <a:pt x="797" y="76"/>
                      <a:pt x="792" y="64"/>
                      <a:pt x="775" y="55"/>
                    </a:cubicBezTo>
                    <a:cubicBezTo>
                      <a:pt x="759" y="47"/>
                      <a:pt x="711" y="43"/>
                      <a:pt x="676" y="43"/>
                    </a:cubicBezTo>
                    <a:cubicBezTo>
                      <a:pt x="631" y="43"/>
                      <a:pt x="564" y="47"/>
                      <a:pt x="513" y="55"/>
                    </a:cubicBezTo>
                    <a:cubicBezTo>
                      <a:pt x="513" y="6"/>
                      <a:pt x="513" y="6"/>
                      <a:pt x="513" y="6"/>
                    </a:cubicBezTo>
                    <a:cubicBezTo>
                      <a:pt x="576" y="2"/>
                      <a:pt x="655" y="0"/>
                      <a:pt x="692" y="0"/>
                    </a:cubicBezTo>
                    <a:cubicBezTo>
                      <a:pt x="756" y="0"/>
                      <a:pt x="851" y="6"/>
                      <a:pt x="886" y="21"/>
                    </a:cubicBezTo>
                    <a:cubicBezTo>
                      <a:pt x="921" y="36"/>
                      <a:pt x="933" y="58"/>
                      <a:pt x="933" y="83"/>
                    </a:cubicBezTo>
                    <a:cubicBezTo>
                      <a:pt x="933" y="103"/>
                      <a:pt x="922" y="124"/>
                      <a:pt x="900" y="138"/>
                    </a:cubicBezTo>
                    <a:cubicBezTo>
                      <a:pt x="877" y="152"/>
                      <a:pt x="864" y="157"/>
                      <a:pt x="820" y="168"/>
                    </a:cubicBezTo>
                    <a:cubicBezTo>
                      <a:pt x="860" y="175"/>
                      <a:pt x="873" y="179"/>
                      <a:pt x="894" y="187"/>
                    </a:cubicBezTo>
                    <a:cubicBezTo>
                      <a:pt x="916" y="195"/>
                      <a:pt x="927" y="203"/>
                      <a:pt x="937" y="216"/>
                    </a:cubicBezTo>
                    <a:cubicBezTo>
                      <a:pt x="946" y="230"/>
                      <a:pt x="948" y="247"/>
                      <a:pt x="948" y="261"/>
                    </a:cubicBezTo>
                    <a:cubicBezTo>
                      <a:pt x="948" y="274"/>
                      <a:pt x="939" y="315"/>
                      <a:pt x="899" y="336"/>
                    </a:cubicBezTo>
                    <a:cubicBezTo>
                      <a:pt x="853" y="359"/>
                      <a:pt x="761" y="363"/>
                      <a:pt x="679" y="363"/>
                    </a:cubicBezTo>
                    <a:cubicBezTo>
                      <a:pt x="658" y="363"/>
                      <a:pt x="565" y="360"/>
                      <a:pt x="506" y="355"/>
                    </a:cubicBezTo>
                    <a:lnTo>
                      <a:pt x="506" y="306"/>
                    </a:lnTo>
                    <a:close/>
                    <a:moveTo>
                      <a:pt x="0" y="36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25" y="150"/>
                      <a:pt x="125" y="150"/>
                      <a:pt x="125" y="150"/>
                    </a:cubicBezTo>
                    <a:cubicBezTo>
                      <a:pt x="339" y="150"/>
                      <a:pt x="339" y="150"/>
                      <a:pt x="339" y="150"/>
                    </a:cubicBezTo>
                    <a:cubicBezTo>
                      <a:pt x="339" y="0"/>
                      <a:pt x="339" y="0"/>
                      <a:pt x="339" y="0"/>
                    </a:cubicBezTo>
                    <a:cubicBezTo>
                      <a:pt x="464" y="0"/>
                      <a:pt x="464" y="0"/>
                      <a:pt x="464" y="0"/>
                    </a:cubicBezTo>
                    <a:cubicBezTo>
                      <a:pt x="464" y="363"/>
                      <a:pt x="464" y="363"/>
                      <a:pt x="464" y="363"/>
                    </a:cubicBezTo>
                    <a:cubicBezTo>
                      <a:pt x="339" y="363"/>
                      <a:pt x="339" y="363"/>
                      <a:pt x="339" y="363"/>
                    </a:cubicBezTo>
                    <a:cubicBezTo>
                      <a:pt x="339" y="194"/>
                      <a:pt x="339" y="194"/>
                      <a:pt x="339" y="194"/>
                    </a:cubicBezTo>
                    <a:cubicBezTo>
                      <a:pt x="125" y="194"/>
                      <a:pt x="125" y="194"/>
                      <a:pt x="125" y="194"/>
                    </a:cubicBezTo>
                    <a:cubicBezTo>
                      <a:pt x="125" y="363"/>
                      <a:pt x="125" y="363"/>
                      <a:pt x="125" y="363"/>
                    </a:cubicBezTo>
                    <a:lnTo>
                      <a:pt x="0" y="363"/>
                    </a:lnTo>
                    <a:close/>
                  </a:path>
                </a:pathLst>
              </a:custGeom>
              <a:solidFill>
                <a:srgbClr val="6678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Freeform 6"/>
              <p:cNvSpPr>
                <a:spLocks noEditPoints="1"/>
              </p:cNvSpPr>
              <p:nvPr userDrawn="1"/>
            </p:nvSpPr>
            <p:spPr bwMode="auto">
              <a:xfrm>
                <a:off x="2150" y="1311"/>
                <a:ext cx="1458" cy="365"/>
              </a:xfrm>
              <a:custGeom>
                <a:avLst/>
                <a:gdLst>
                  <a:gd name="T0" fmla="*/ 1452 w 1452"/>
                  <a:gd name="T1" fmla="*/ 356 h 363"/>
                  <a:gd name="T2" fmla="*/ 1305 w 1452"/>
                  <a:gd name="T3" fmla="*/ 363 h 363"/>
                  <a:gd name="T4" fmla="*/ 1047 w 1452"/>
                  <a:gd name="T5" fmla="*/ 317 h 363"/>
                  <a:gd name="T6" fmla="*/ 978 w 1452"/>
                  <a:gd name="T7" fmla="*/ 182 h 363"/>
                  <a:gd name="T8" fmla="*/ 1044 w 1452"/>
                  <a:gd name="T9" fmla="*/ 46 h 363"/>
                  <a:gd name="T10" fmla="*/ 1299 w 1452"/>
                  <a:gd name="T11" fmla="*/ 0 h 363"/>
                  <a:gd name="T12" fmla="*/ 1452 w 1452"/>
                  <a:gd name="T13" fmla="*/ 5 h 363"/>
                  <a:gd name="T14" fmla="*/ 1452 w 1452"/>
                  <a:gd name="T15" fmla="*/ 61 h 363"/>
                  <a:gd name="T16" fmla="*/ 1321 w 1452"/>
                  <a:gd name="T17" fmla="*/ 47 h 363"/>
                  <a:gd name="T18" fmla="*/ 1163 w 1452"/>
                  <a:gd name="T19" fmla="*/ 85 h 363"/>
                  <a:gd name="T20" fmla="*/ 1125 w 1452"/>
                  <a:gd name="T21" fmla="*/ 181 h 363"/>
                  <a:gd name="T22" fmla="*/ 1177 w 1452"/>
                  <a:gd name="T23" fmla="*/ 283 h 363"/>
                  <a:gd name="T24" fmla="*/ 1327 w 1452"/>
                  <a:gd name="T25" fmla="*/ 312 h 363"/>
                  <a:gd name="T26" fmla="*/ 1452 w 1452"/>
                  <a:gd name="T27" fmla="*/ 301 h 363"/>
                  <a:gd name="T28" fmla="*/ 1452 w 1452"/>
                  <a:gd name="T29" fmla="*/ 356 h 363"/>
                  <a:gd name="T30" fmla="*/ 507 w 1452"/>
                  <a:gd name="T31" fmla="*/ 306 h 363"/>
                  <a:gd name="T32" fmla="*/ 675 w 1452"/>
                  <a:gd name="T33" fmla="*/ 319 h 363"/>
                  <a:gd name="T34" fmla="*/ 780 w 1452"/>
                  <a:gd name="T35" fmla="*/ 306 h 363"/>
                  <a:gd name="T36" fmla="*/ 814 w 1452"/>
                  <a:gd name="T37" fmla="*/ 261 h 363"/>
                  <a:gd name="T38" fmla="*/ 799 w 1452"/>
                  <a:gd name="T39" fmla="*/ 223 h 363"/>
                  <a:gd name="T40" fmla="*/ 748 w 1452"/>
                  <a:gd name="T41" fmla="*/ 199 h 363"/>
                  <a:gd name="T42" fmla="*/ 638 w 1452"/>
                  <a:gd name="T43" fmla="*/ 193 h 363"/>
                  <a:gd name="T44" fmla="*/ 556 w 1452"/>
                  <a:gd name="T45" fmla="*/ 193 h 363"/>
                  <a:gd name="T46" fmla="*/ 556 w 1452"/>
                  <a:gd name="T47" fmla="*/ 151 h 363"/>
                  <a:gd name="T48" fmla="*/ 632 w 1452"/>
                  <a:gd name="T49" fmla="*/ 150 h 363"/>
                  <a:gd name="T50" fmla="*/ 732 w 1452"/>
                  <a:gd name="T51" fmla="*/ 146 h 363"/>
                  <a:gd name="T52" fmla="*/ 782 w 1452"/>
                  <a:gd name="T53" fmla="*/ 126 h 363"/>
                  <a:gd name="T54" fmla="*/ 797 w 1452"/>
                  <a:gd name="T55" fmla="*/ 90 h 363"/>
                  <a:gd name="T56" fmla="*/ 776 w 1452"/>
                  <a:gd name="T57" fmla="*/ 55 h 363"/>
                  <a:gd name="T58" fmla="*/ 676 w 1452"/>
                  <a:gd name="T59" fmla="*/ 43 h 363"/>
                  <a:gd name="T60" fmla="*/ 513 w 1452"/>
                  <a:gd name="T61" fmla="*/ 55 h 363"/>
                  <a:gd name="T62" fmla="*/ 513 w 1452"/>
                  <a:gd name="T63" fmla="*/ 6 h 363"/>
                  <a:gd name="T64" fmla="*/ 692 w 1452"/>
                  <a:gd name="T65" fmla="*/ 0 h 363"/>
                  <a:gd name="T66" fmla="*/ 887 w 1452"/>
                  <a:gd name="T67" fmla="*/ 21 h 363"/>
                  <a:gd name="T68" fmla="*/ 934 w 1452"/>
                  <a:gd name="T69" fmla="*/ 83 h 363"/>
                  <a:gd name="T70" fmla="*/ 900 w 1452"/>
                  <a:gd name="T71" fmla="*/ 138 h 363"/>
                  <a:gd name="T72" fmla="*/ 820 w 1452"/>
                  <a:gd name="T73" fmla="*/ 168 h 363"/>
                  <a:gd name="T74" fmla="*/ 894 w 1452"/>
                  <a:gd name="T75" fmla="*/ 187 h 363"/>
                  <a:gd name="T76" fmla="*/ 937 w 1452"/>
                  <a:gd name="T77" fmla="*/ 216 h 363"/>
                  <a:gd name="T78" fmla="*/ 948 w 1452"/>
                  <a:gd name="T79" fmla="*/ 261 h 363"/>
                  <a:gd name="T80" fmla="*/ 899 w 1452"/>
                  <a:gd name="T81" fmla="*/ 336 h 363"/>
                  <a:gd name="T82" fmla="*/ 680 w 1452"/>
                  <a:gd name="T83" fmla="*/ 363 h 363"/>
                  <a:gd name="T84" fmla="*/ 507 w 1452"/>
                  <a:gd name="T85" fmla="*/ 355 h 363"/>
                  <a:gd name="T86" fmla="*/ 507 w 1452"/>
                  <a:gd name="T87" fmla="*/ 306 h 363"/>
                  <a:gd name="T88" fmla="*/ 0 w 1452"/>
                  <a:gd name="T89" fmla="*/ 363 h 363"/>
                  <a:gd name="T90" fmla="*/ 0 w 1452"/>
                  <a:gd name="T91" fmla="*/ 0 h 363"/>
                  <a:gd name="T92" fmla="*/ 125 w 1452"/>
                  <a:gd name="T93" fmla="*/ 0 h 363"/>
                  <a:gd name="T94" fmla="*/ 125 w 1452"/>
                  <a:gd name="T95" fmla="*/ 150 h 363"/>
                  <a:gd name="T96" fmla="*/ 340 w 1452"/>
                  <a:gd name="T97" fmla="*/ 150 h 363"/>
                  <a:gd name="T98" fmla="*/ 340 w 1452"/>
                  <a:gd name="T99" fmla="*/ 0 h 363"/>
                  <a:gd name="T100" fmla="*/ 464 w 1452"/>
                  <a:gd name="T101" fmla="*/ 0 h 363"/>
                  <a:gd name="T102" fmla="*/ 464 w 1452"/>
                  <a:gd name="T103" fmla="*/ 363 h 363"/>
                  <a:gd name="T104" fmla="*/ 340 w 1452"/>
                  <a:gd name="T105" fmla="*/ 363 h 363"/>
                  <a:gd name="T106" fmla="*/ 340 w 1452"/>
                  <a:gd name="T107" fmla="*/ 194 h 363"/>
                  <a:gd name="T108" fmla="*/ 125 w 1452"/>
                  <a:gd name="T109" fmla="*/ 194 h 363"/>
                  <a:gd name="T110" fmla="*/ 125 w 1452"/>
                  <a:gd name="T111" fmla="*/ 363 h 363"/>
                  <a:gd name="T112" fmla="*/ 0 w 1452"/>
                  <a:gd name="T113" fmla="*/ 363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52" h="363">
                    <a:moveTo>
                      <a:pt x="1452" y="356"/>
                    </a:moveTo>
                    <a:cubicBezTo>
                      <a:pt x="1404" y="360"/>
                      <a:pt x="1352" y="363"/>
                      <a:pt x="1305" y="363"/>
                    </a:cubicBezTo>
                    <a:cubicBezTo>
                      <a:pt x="1205" y="363"/>
                      <a:pt x="1095" y="351"/>
                      <a:pt x="1047" y="317"/>
                    </a:cubicBezTo>
                    <a:cubicBezTo>
                      <a:pt x="999" y="282"/>
                      <a:pt x="978" y="235"/>
                      <a:pt x="978" y="182"/>
                    </a:cubicBezTo>
                    <a:cubicBezTo>
                      <a:pt x="978" y="129"/>
                      <a:pt x="996" y="80"/>
                      <a:pt x="1044" y="46"/>
                    </a:cubicBezTo>
                    <a:cubicBezTo>
                      <a:pt x="1091" y="12"/>
                      <a:pt x="1196" y="0"/>
                      <a:pt x="1299" y="0"/>
                    </a:cubicBezTo>
                    <a:cubicBezTo>
                      <a:pt x="1368" y="0"/>
                      <a:pt x="1399" y="1"/>
                      <a:pt x="1452" y="5"/>
                    </a:cubicBezTo>
                    <a:cubicBezTo>
                      <a:pt x="1452" y="61"/>
                      <a:pt x="1452" y="61"/>
                      <a:pt x="1452" y="61"/>
                    </a:cubicBezTo>
                    <a:cubicBezTo>
                      <a:pt x="1396" y="50"/>
                      <a:pt x="1361" y="47"/>
                      <a:pt x="1321" y="47"/>
                    </a:cubicBezTo>
                    <a:cubicBezTo>
                      <a:pt x="1257" y="47"/>
                      <a:pt x="1203" y="54"/>
                      <a:pt x="1163" y="85"/>
                    </a:cubicBezTo>
                    <a:cubicBezTo>
                      <a:pt x="1132" y="108"/>
                      <a:pt x="1125" y="143"/>
                      <a:pt x="1125" y="181"/>
                    </a:cubicBezTo>
                    <a:cubicBezTo>
                      <a:pt x="1125" y="234"/>
                      <a:pt x="1142" y="260"/>
                      <a:pt x="1177" y="283"/>
                    </a:cubicBezTo>
                    <a:cubicBezTo>
                      <a:pt x="1215" y="307"/>
                      <a:pt x="1267" y="315"/>
                      <a:pt x="1327" y="312"/>
                    </a:cubicBezTo>
                    <a:cubicBezTo>
                      <a:pt x="1380" y="310"/>
                      <a:pt x="1400" y="309"/>
                      <a:pt x="1452" y="301"/>
                    </a:cubicBezTo>
                    <a:lnTo>
                      <a:pt x="1452" y="356"/>
                    </a:lnTo>
                    <a:close/>
                    <a:moveTo>
                      <a:pt x="507" y="306"/>
                    </a:moveTo>
                    <a:cubicBezTo>
                      <a:pt x="563" y="312"/>
                      <a:pt x="619" y="317"/>
                      <a:pt x="675" y="319"/>
                    </a:cubicBezTo>
                    <a:cubicBezTo>
                      <a:pt x="711" y="320"/>
                      <a:pt x="758" y="316"/>
                      <a:pt x="780" y="306"/>
                    </a:cubicBezTo>
                    <a:cubicBezTo>
                      <a:pt x="802" y="295"/>
                      <a:pt x="814" y="279"/>
                      <a:pt x="814" y="261"/>
                    </a:cubicBezTo>
                    <a:cubicBezTo>
                      <a:pt x="814" y="248"/>
                      <a:pt x="811" y="233"/>
                      <a:pt x="799" y="223"/>
                    </a:cubicBezTo>
                    <a:cubicBezTo>
                      <a:pt x="787" y="212"/>
                      <a:pt x="773" y="205"/>
                      <a:pt x="748" y="199"/>
                    </a:cubicBezTo>
                    <a:cubicBezTo>
                      <a:pt x="725" y="194"/>
                      <a:pt x="687" y="193"/>
                      <a:pt x="638" y="193"/>
                    </a:cubicBezTo>
                    <a:cubicBezTo>
                      <a:pt x="556" y="193"/>
                      <a:pt x="556" y="193"/>
                      <a:pt x="556" y="193"/>
                    </a:cubicBezTo>
                    <a:cubicBezTo>
                      <a:pt x="556" y="151"/>
                      <a:pt x="556" y="151"/>
                      <a:pt x="556" y="151"/>
                    </a:cubicBezTo>
                    <a:cubicBezTo>
                      <a:pt x="632" y="150"/>
                      <a:pt x="632" y="150"/>
                      <a:pt x="632" y="150"/>
                    </a:cubicBezTo>
                    <a:cubicBezTo>
                      <a:pt x="679" y="150"/>
                      <a:pt x="711" y="149"/>
                      <a:pt x="732" y="146"/>
                    </a:cubicBezTo>
                    <a:cubicBezTo>
                      <a:pt x="754" y="142"/>
                      <a:pt x="771" y="136"/>
                      <a:pt x="782" y="126"/>
                    </a:cubicBezTo>
                    <a:cubicBezTo>
                      <a:pt x="794" y="116"/>
                      <a:pt x="797" y="101"/>
                      <a:pt x="797" y="90"/>
                    </a:cubicBezTo>
                    <a:cubicBezTo>
                      <a:pt x="797" y="76"/>
                      <a:pt x="792" y="64"/>
                      <a:pt x="776" y="55"/>
                    </a:cubicBezTo>
                    <a:cubicBezTo>
                      <a:pt x="759" y="47"/>
                      <a:pt x="712" y="43"/>
                      <a:pt x="676" y="43"/>
                    </a:cubicBezTo>
                    <a:cubicBezTo>
                      <a:pt x="632" y="43"/>
                      <a:pt x="565" y="47"/>
                      <a:pt x="513" y="55"/>
                    </a:cubicBezTo>
                    <a:cubicBezTo>
                      <a:pt x="513" y="6"/>
                      <a:pt x="513" y="6"/>
                      <a:pt x="513" y="6"/>
                    </a:cubicBezTo>
                    <a:cubicBezTo>
                      <a:pt x="577" y="2"/>
                      <a:pt x="655" y="0"/>
                      <a:pt x="692" y="0"/>
                    </a:cubicBezTo>
                    <a:cubicBezTo>
                      <a:pt x="756" y="0"/>
                      <a:pt x="852" y="6"/>
                      <a:pt x="887" y="21"/>
                    </a:cubicBezTo>
                    <a:cubicBezTo>
                      <a:pt x="921" y="36"/>
                      <a:pt x="934" y="58"/>
                      <a:pt x="934" y="83"/>
                    </a:cubicBezTo>
                    <a:cubicBezTo>
                      <a:pt x="934" y="103"/>
                      <a:pt x="922" y="124"/>
                      <a:pt x="900" y="138"/>
                    </a:cubicBezTo>
                    <a:cubicBezTo>
                      <a:pt x="878" y="152"/>
                      <a:pt x="865" y="157"/>
                      <a:pt x="820" y="168"/>
                    </a:cubicBezTo>
                    <a:cubicBezTo>
                      <a:pt x="860" y="175"/>
                      <a:pt x="873" y="179"/>
                      <a:pt x="894" y="187"/>
                    </a:cubicBezTo>
                    <a:cubicBezTo>
                      <a:pt x="916" y="194"/>
                      <a:pt x="928" y="203"/>
                      <a:pt x="937" y="216"/>
                    </a:cubicBezTo>
                    <a:cubicBezTo>
                      <a:pt x="946" y="230"/>
                      <a:pt x="948" y="247"/>
                      <a:pt x="948" y="261"/>
                    </a:cubicBezTo>
                    <a:cubicBezTo>
                      <a:pt x="948" y="274"/>
                      <a:pt x="939" y="315"/>
                      <a:pt x="899" y="336"/>
                    </a:cubicBezTo>
                    <a:cubicBezTo>
                      <a:pt x="853" y="359"/>
                      <a:pt x="761" y="363"/>
                      <a:pt x="680" y="363"/>
                    </a:cubicBezTo>
                    <a:cubicBezTo>
                      <a:pt x="658" y="363"/>
                      <a:pt x="566" y="360"/>
                      <a:pt x="507" y="355"/>
                    </a:cubicBezTo>
                    <a:lnTo>
                      <a:pt x="507" y="306"/>
                    </a:lnTo>
                    <a:close/>
                    <a:moveTo>
                      <a:pt x="0" y="36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25" y="150"/>
                      <a:pt x="125" y="150"/>
                      <a:pt x="125" y="150"/>
                    </a:cubicBezTo>
                    <a:cubicBezTo>
                      <a:pt x="340" y="150"/>
                      <a:pt x="340" y="150"/>
                      <a:pt x="340" y="150"/>
                    </a:cubicBezTo>
                    <a:cubicBezTo>
                      <a:pt x="340" y="0"/>
                      <a:pt x="340" y="0"/>
                      <a:pt x="340" y="0"/>
                    </a:cubicBezTo>
                    <a:cubicBezTo>
                      <a:pt x="464" y="0"/>
                      <a:pt x="464" y="0"/>
                      <a:pt x="464" y="0"/>
                    </a:cubicBezTo>
                    <a:cubicBezTo>
                      <a:pt x="464" y="363"/>
                      <a:pt x="464" y="363"/>
                      <a:pt x="464" y="363"/>
                    </a:cubicBezTo>
                    <a:cubicBezTo>
                      <a:pt x="340" y="363"/>
                      <a:pt x="340" y="363"/>
                      <a:pt x="340" y="363"/>
                    </a:cubicBezTo>
                    <a:cubicBezTo>
                      <a:pt x="340" y="194"/>
                      <a:pt x="340" y="194"/>
                      <a:pt x="340" y="194"/>
                    </a:cubicBezTo>
                    <a:cubicBezTo>
                      <a:pt x="125" y="194"/>
                      <a:pt x="125" y="194"/>
                      <a:pt x="125" y="194"/>
                    </a:cubicBezTo>
                    <a:cubicBezTo>
                      <a:pt x="125" y="363"/>
                      <a:pt x="125" y="363"/>
                      <a:pt x="125" y="363"/>
                    </a:cubicBezTo>
                    <a:lnTo>
                      <a:pt x="0" y="363"/>
                    </a:lnTo>
                    <a:close/>
                  </a:path>
                </a:pathLst>
              </a:custGeom>
              <a:solidFill>
                <a:srgbClr val="6678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Freeform 7"/>
              <p:cNvSpPr>
                <a:spLocks noEditPoints="1"/>
              </p:cNvSpPr>
              <p:nvPr userDrawn="1"/>
            </p:nvSpPr>
            <p:spPr bwMode="auto">
              <a:xfrm>
                <a:off x="2143" y="1805"/>
                <a:ext cx="1459" cy="122"/>
              </a:xfrm>
              <a:custGeom>
                <a:avLst/>
                <a:gdLst>
                  <a:gd name="T0" fmla="*/ 1369 w 1453"/>
                  <a:gd name="T1" fmla="*/ 102 h 121"/>
                  <a:gd name="T2" fmla="*/ 1424 w 1453"/>
                  <a:gd name="T3" fmla="*/ 39 h 121"/>
                  <a:gd name="T4" fmla="*/ 1415 w 1453"/>
                  <a:gd name="T5" fmla="*/ 106 h 121"/>
                  <a:gd name="T6" fmla="*/ 1312 w 1453"/>
                  <a:gd name="T7" fmla="*/ 98 h 121"/>
                  <a:gd name="T8" fmla="*/ 1318 w 1453"/>
                  <a:gd name="T9" fmla="*/ 107 h 121"/>
                  <a:gd name="T10" fmla="*/ 1341 w 1453"/>
                  <a:gd name="T11" fmla="*/ 55 h 121"/>
                  <a:gd name="T12" fmla="*/ 1264 w 1453"/>
                  <a:gd name="T13" fmla="*/ 5 h 121"/>
                  <a:gd name="T14" fmla="*/ 1168 w 1453"/>
                  <a:gd name="T15" fmla="*/ 29 h 121"/>
                  <a:gd name="T16" fmla="*/ 1139 w 1453"/>
                  <a:gd name="T17" fmla="*/ 16 h 121"/>
                  <a:gd name="T18" fmla="*/ 1152 w 1453"/>
                  <a:gd name="T19" fmla="*/ 78 h 121"/>
                  <a:gd name="T20" fmla="*/ 1190 w 1453"/>
                  <a:gd name="T21" fmla="*/ 103 h 121"/>
                  <a:gd name="T22" fmla="*/ 1202 w 1453"/>
                  <a:gd name="T23" fmla="*/ 89 h 121"/>
                  <a:gd name="T24" fmla="*/ 1214 w 1453"/>
                  <a:gd name="T25" fmla="*/ 5 h 121"/>
                  <a:gd name="T26" fmla="*/ 1019 w 1453"/>
                  <a:gd name="T27" fmla="*/ 50 h 121"/>
                  <a:gd name="T28" fmla="*/ 1010 w 1453"/>
                  <a:gd name="T29" fmla="*/ 37 h 121"/>
                  <a:gd name="T30" fmla="*/ 1073 w 1453"/>
                  <a:gd name="T31" fmla="*/ 103 h 121"/>
                  <a:gd name="T32" fmla="*/ 1022 w 1453"/>
                  <a:gd name="T33" fmla="*/ 38 h 121"/>
                  <a:gd name="T34" fmla="*/ 986 w 1453"/>
                  <a:gd name="T35" fmla="*/ 15 h 121"/>
                  <a:gd name="T36" fmla="*/ 912 w 1453"/>
                  <a:gd name="T37" fmla="*/ 38 h 121"/>
                  <a:gd name="T38" fmla="*/ 928 w 1453"/>
                  <a:gd name="T39" fmla="*/ 49 h 121"/>
                  <a:gd name="T40" fmla="*/ 928 w 1453"/>
                  <a:gd name="T41" fmla="*/ 28 h 121"/>
                  <a:gd name="T42" fmla="*/ 806 w 1453"/>
                  <a:gd name="T43" fmla="*/ 58 h 121"/>
                  <a:gd name="T44" fmla="*/ 814 w 1453"/>
                  <a:gd name="T45" fmla="*/ 92 h 121"/>
                  <a:gd name="T46" fmla="*/ 825 w 1453"/>
                  <a:gd name="T47" fmla="*/ 47 h 121"/>
                  <a:gd name="T48" fmla="*/ 788 w 1453"/>
                  <a:gd name="T49" fmla="*/ 18 h 121"/>
                  <a:gd name="T50" fmla="*/ 761 w 1453"/>
                  <a:gd name="T51" fmla="*/ 102 h 121"/>
                  <a:gd name="T52" fmla="*/ 771 w 1453"/>
                  <a:gd name="T53" fmla="*/ 70 h 121"/>
                  <a:gd name="T54" fmla="*/ 771 w 1453"/>
                  <a:gd name="T55" fmla="*/ 1 h 121"/>
                  <a:gd name="T56" fmla="*/ 692 w 1453"/>
                  <a:gd name="T57" fmla="*/ 0 h 121"/>
                  <a:gd name="T58" fmla="*/ 658 w 1453"/>
                  <a:gd name="T59" fmla="*/ 119 h 121"/>
                  <a:gd name="T60" fmla="*/ 658 w 1453"/>
                  <a:gd name="T61" fmla="*/ 68 h 121"/>
                  <a:gd name="T62" fmla="*/ 658 w 1453"/>
                  <a:gd name="T63" fmla="*/ 40 h 121"/>
                  <a:gd name="T64" fmla="*/ 622 w 1453"/>
                  <a:gd name="T65" fmla="*/ 62 h 121"/>
                  <a:gd name="T66" fmla="*/ 491 w 1453"/>
                  <a:gd name="T67" fmla="*/ 54 h 121"/>
                  <a:gd name="T68" fmla="*/ 601 w 1453"/>
                  <a:gd name="T69" fmla="*/ 117 h 121"/>
                  <a:gd name="T70" fmla="*/ 497 w 1453"/>
                  <a:gd name="T71" fmla="*/ 10 h 121"/>
                  <a:gd name="T72" fmla="*/ 568 w 1453"/>
                  <a:gd name="T73" fmla="*/ 49 h 121"/>
                  <a:gd name="T74" fmla="*/ 589 w 1453"/>
                  <a:gd name="T75" fmla="*/ 58 h 121"/>
                  <a:gd name="T76" fmla="*/ 538 w 1453"/>
                  <a:gd name="T77" fmla="*/ 58 h 121"/>
                  <a:gd name="T78" fmla="*/ 528 w 1453"/>
                  <a:gd name="T79" fmla="*/ 100 h 121"/>
                  <a:gd name="T80" fmla="*/ 589 w 1453"/>
                  <a:gd name="T81" fmla="*/ 87 h 121"/>
                  <a:gd name="T82" fmla="*/ 571 w 1453"/>
                  <a:gd name="T83" fmla="*/ 28 h 121"/>
                  <a:gd name="T84" fmla="*/ 375 w 1453"/>
                  <a:gd name="T85" fmla="*/ 101 h 121"/>
                  <a:gd name="T86" fmla="*/ 475 w 1453"/>
                  <a:gd name="T87" fmla="*/ 21 h 121"/>
                  <a:gd name="T88" fmla="*/ 310 w 1453"/>
                  <a:gd name="T89" fmla="*/ 54 h 121"/>
                  <a:gd name="T90" fmla="*/ 348 w 1453"/>
                  <a:gd name="T91" fmla="*/ 54 h 121"/>
                  <a:gd name="T92" fmla="*/ 346 w 1453"/>
                  <a:gd name="T93" fmla="*/ 9 h 121"/>
                  <a:gd name="T94" fmla="*/ 303 w 1453"/>
                  <a:gd name="T95" fmla="*/ 119 h 121"/>
                  <a:gd name="T96" fmla="*/ 303 w 1453"/>
                  <a:gd name="T97" fmla="*/ 80 h 121"/>
                  <a:gd name="T98" fmla="*/ 273 w 1453"/>
                  <a:gd name="T99" fmla="*/ 21 h 121"/>
                  <a:gd name="T100" fmla="*/ 223 w 1453"/>
                  <a:gd name="T101" fmla="*/ 1 h 121"/>
                  <a:gd name="T102" fmla="*/ 209 w 1453"/>
                  <a:gd name="T103" fmla="*/ 75 h 121"/>
                  <a:gd name="T104" fmla="*/ 162 w 1453"/>
                  <a:gd name="T105" fmla="*/ 35 h 121"/>
                  <a:gd name="T106" fmla="*/ 149 w 1453"/>
                  <a:gd name="T107" fmla="*/ 1 h 121"/>
                  <a:gd name="T108" fmla="*/ 132 w 1453"/>
                  <a:gd name="T109" fmla="*/ 52 h 121"/>
                  <a:gd name="T110" fmla="*/ 63 w 1453"/>
                  <a:gd name="T111" fmla="*/ 55 h 121"/>
                  <a:gd name="T112" fmla="*/ 107 w 1453"/>
                  <a:gd name="T113" fmla="*/ 90 h 121"/>
                  <a:gd name="T114" fmla="*/ 53 w 1453"/>
                  <a:gd name="T115" fmla="*/ 45 h 121"/>
                  <a:gd name="T116" fmla="*/ 83 w 1453"/>
                  <a:gd name="T117" fmla="*/ 15 h 121"/>
                  <a:gd name="T118" fmla="*/ 17 w 1453"/>
                  <a:gd name="T119" fmla="*/ 69 h 121"/>
                  <a:gd name="T120" fmla="*/ 28 w 1453"/>
                  <a:gd name="T121" fmla="*/ 34 h 121"/>
                  <a:gd name="T122" fmla="*/ 2 w 1453"/>
                  <a:gd name="T123" fmla="*/ 34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3" h="121">
                    <a:moveTo>
                      <a:pt x="1369" y="62"/>
                    </a:moveTo>
                    <a:cubicBezTo>
                      <a:pt x="1410" y="62"/>
                      <a:pt x="1410" y="62"/>
                      <a:pt x="1410" y="62"/>
                    </a:cubicBezTo>
                    <a:cubicBezTo>
                      <a:pt x="1410" y="84"/>
                      <a:pt x="1410" y="84"/>
                      <a:pt x="1410" y="84"/>
                    </a:cubicBezTo>
                    <a:cubicBezTo>
                      <a:pt x="1369" y="84"/>
                      <a:pt x="1369" y="84"/>
                      <a:pt x="1369" y="84"/>
                    </a:cubicBezTo>
                    <a:lnTo>
                      <a:pt x="1369" y="62"/>
                    </a:lnTo>
                    <a:close/>
                    <a:moveTo>
                      <a:pt x="1359" y="52"/>
                    </a:moveTo>
                    <a:cubicBezTo>
                      <a:pt x="1359" y="102"/>
                      <a:pt x="1359" y="102"/>
                      <a:pt x="1359" y="102"/>
                    </a:cubicBezTo>
                    <a:cubicBezTo>
                      <a:pt x="1369" y="102"/>
                      <a:pt x="1369" y="102"/>
                      <a:pt x="1369" y="102"/>
                    </a:cubicBezTo>
                    <a:cubicBezTo>
                      <a:pt x="1369" y="94"/>
                      <a:pt x="1369" y="94"/>
                      <a:pt x="1369" y="94"/>
                    </a:cubicBezTo>
                    <a:cubicBezTo>
                      <a:pt x="1410" y="94"/>
                      <a:pt x="1410" y="94"/>
                      <a:pt x="1410" y="94"/>
                    </a:cubicBezTo>
                    <a:cubicBezTo>
                      <a:pt x="1410" y="101"/>
                      <a:pt x="1410" y="101"/>
                      <a:pt x="1410" y="101"/>
                    </a:cubicBezTo>
                    <a:cubicBezTo>
                      <a:pt x="1421" y="101"/>
                      <a:pt x="1421" y="101"/>
                      <a:pt x="1421" y="101"/>
                    </a:cubicBezTo>
                    <a:cubicBezTo>
                      <a:pt x="1421" y="52"/>
                      <a:pt x="1421" y="52"/>
                      <a:pt x="1421" y="52"/>
                    </a:cubicBezTo>
                    <a:lnTo>
                      <a:pt x="1359" y="52"/>
                    </a:lnTo>
                    <a:close/>
                    <a:moveTo>
                      <a:pt x="1351" y="39"/>
                    </a:moveTo>
                    <a:cubicBezTo>
                      <a:pt x="1424" y="39"/>
                      <a:pt x="1424" y="39"/>
                      <a:pt x="1424" y="39"/>
                    </a:cubicBezTo>
                    <a:cubicBezTo>
                      <a:pt x="1424" y="29"/>
                      <a:pt x="1424" y="29"/>
                      <a:pt x="1424" y="29"/>
                    </a:cubicBezTo>
                    <a:cubicBezTo>
                      <a:pt x="1351" y="29"/>
                      <a:pt x="1351" y="29"/>
                      <a:pt x="1351" y="29"/>
                    </a:cubicBezTo>
                    <a:lnTo>
                      <a:pt x="1351" y="39"/>
                    </a:lnTo>
                    <a:close/>
                    <a:moveTo>
                      <a:pt x="1357" y="18"/>
                    </a:moveTo>
                    <a:cubicBezTo>
                      <a:pt x="1442" y="18"/>
                      <a:pt x="1442" y="18"/>
                      <a:pt x="1442" y="18"/>
                    </a:cubicBezTo>
                    <a:cubicBezTo>
                      <a:pt x="1442" y="102"/>
                      <a:pt x="1442" y="102"/>
                      <a:pt x="1442" y="102"/>
                    </a:cubicBezTo>
                    <a:cubicBezTo>
                      <a:pt x="1442" y="107"/>
                      <a:pt x="1441" y="109"/>
                      <a:pt x="1438" y="109"/>
                    </a:cubicBezTo>
                    <a:cubicBezTo>
                      <a:pt x="1431" y="109"/>
                      <a:pt x="1423" y="108"/>
                      <a:pt x="1415" y="106"/>
                    </a:cubicBezTo>
                    <a:cubicBezTo>
                      <a:pt x="1417" y="118"/>
                      <a:pt x="1417" y="118"/>
                      <a:pt x="1417" y="118"/>
                    </a:cubicBezTo>
                    <a:cubicBezTo>
                      <a:pt x="1426" y="119"/>
                      <a:pt x="1434" y="120"/>
                      <a:pt x="1440" y="120"/>
                    </a:cubicBezTo>
                    <a:cubicBezTo>
                      <a:pt x="1449" y="120"/>
                      <a:pt x="1453" y="115"/>
                      <a:pt x="1453" y="106"/>
                    </a:cubicBezTo>
                    <a:cubicBezTo>
                      <a:pt x="1453" y="7"/>
                      <a:pt x="1453" y="7"/>
                      <a:pt x="1453" y="7"/>
                    </a:cubicBezTo>
                    <a:cubicBezTo>
                      <a:pt x="1357" y="7"/>
                      <a:pt x="1357" y="7"/>
                      <a:pt x="1357" y="7"/>
                    </a:cubicBezTo>
                    <a:lnTo>
                      <a:pt x="1357" y="18"/>
                    </a:lnTo>
                    <a:close/>
                    <a:moveTo>
                      <a:pt x="1296" y="77"/>
                    </a:moveTo>
                    <a:cubicBezTo>
                      <a:pt x="1302" y="83"/>
                      <a:pt x="1307" y="90"/>
                      <a:pt x="1312" y="98"/>
                    </a:cubicBezTo>
                    <a:cubicBezTo>
                      <a:pt x="1292" y="101"/>
                      <a:pt x="1275" y="103"/>
                      <a:pt x="1258" y="104"/>
                    </a:cubicBezTo>
                    <a:cubicBezTo>
                      <a:pt x="1262" y="99"/>
                      <a:pt x="1265" y="95"/>
                      <a:pt x="1268" y="90"/>
                    </a:cubicBezTo>
                    <a:cubicBezTo>
                      <a:pt x="1275" y="79"/>
                      <a:pt x="1282" y="65"/>
                      <a:pt x="1289" y="46"/>
                    </a:cubicBezTo>
                    <a:cubicBezTo>
                      <a:pt x="1277" y="42"/>
                      <a:pt x="1277" y="42"/>
                      <a:pt x="1277" y="42"/>
                    </a:cubicBezTo>
                    <a:cubicBezTo>
                      <a:pt x="1272" y="59"/>
                      <a:pt x="1265" y="74"/>
                      <a:pt x="1259" y="84"/>
                    </a:cubicBezTo>
                    <a:cubicBezTo>
                      <a:pt x="1254" y="93"/>
                      <a:pt x="1249" y="99"/>
                      <a:pt x="1242" y="103"/>
                    </a:cubicBezTo>
                    <a:cubicBezTo>
                      <a:pt x="1248" y="115"/>
                      <a:pt x="1248" y="115"/>
                      <a:pt x="1248" y="115"/>
                    </a:cubicBezTo>
                    <a:cubicBezTo>
                      <a:pt x="1271" y="114"/>
                      <a:pt x="1294" y="112"/>
                      <a:pt x="1318" y="107"/>
                    </a:cubicBezTo>
                    <a:cubicBezTo>
                      <a:pt x="1319" y="111"/>
                      <a:pt x="1321" y="114"/>
                      <a:pt x="1323" y="118"/>
                    </a:cubicBezTo>
                    <a:cubicBezTo>
                      <a:pt x="1333" y="112"/>
                      <a:pt x="1333" y="112"/>
                      <a:pt x="1333" y="112"/>
                    </a:cubicBezTo>
                    <a:cubicBezTo>
                      <a:pt x="1326" y="97"/>
                      <a:pt x="1317" y="83"/>
                      <a:pt x="1306" y="70"/>
                    </a:cubicBezTo>
                    <a:lnTo>
                      <a:pt x="1296" y="77"/>
                    </a:lnTo>
                    <a:close/>
                    <a:moveTo>
                      <a:pt x="1297" y="9"/>
                    </a:moveTo>
                    <a:cubicBezTo>
                      <a:pt x="1303" y="22"/>
                      <a:pt x="1309" y="34"/>
                      <a:pt x="1316" y="44"/>
                    </a:cubicBezTo>
                    <a:cubicBezTo>
                      <a:pt x="1322" y="53"/>
                      <a:pt x="1328" y="61"/>
                      <a:pt x="1335" y="67"/>
                    </a:cubicBezTo>
                    <a:cubicBezTo>
                      <a:pt x="1341" y="55"/>
                      <a:pt x="1341" y="55"/>
                      <a:pt x="1341" y="55"/>
                    </a:cubicBezTo>
                    <a:cubicBezTo>
                      <a:pt x="1328" y="43"/>
                      <a:pt x="1317" y="27"/>
                      <a:pt x="1308" y="6"/>
                    </a:cubicBezTo>
                    <a:lnTo>
                      <a:pt x="1297" y="9"/>
                    </a:lnTo>
                    <a:close/>
                    <a:moveTo>
                      <a:pt x="1250" y="34"/>
                    </a:moveTo>
                    <a:cubicBezTo>
                      <a:pt x="1244" y="44"/>
                      <a:pt x="1238" y="53"/>
                      <a:pt x="1231" y="61"/>
                    </a:cubicBezTo>
                    <a:cubicBezTo>
                      <a:pt x="1239" y="68"/>
                      <a:pt x="1239" y="68"/>
                      <a:pt x="1239" y="68"/>
                    </a:cubicBezTo>
                    <a:cubicBezTo>
                      <a:pt x="1247" y="60"/>
                      <a:pt x="1253" y="51"/>
                      <a:pt x="1259" y="40"/>
                    </a:cubicBezTo>
                    <a:cubicBezTo>
                      <a:pt x="1265" y="30"/>
                      <a:pt x="1270" y="19"/>
                      <a:pt x="1274" y="9"/>
                    </a:cubicBezTo>
                    <a:cubicBezTo>
                      <a:pt x="1264" y="5"/>
                      <a:pt x="1264" y="5"/>
                      <a:pt x="1264" y="5"/>
                    </a:cubicBezTo>
                    <a:cubicBezTo>
                      <a:pt x="1260" y="14"/>
                      <a:pt x="1256" y="24"/>
                      <a:pt x="1250" y="34"/>
                    </a:cubicBezTo>
                    <a:moveTo>
                      <a:pt x="1204" y="51"/>
                    </a:moveTo>
                    <a:cubicBezTo>
                      <a:pt x="1168" y="51"/>
                      <a:pt x="1168" y="51"/>
                      <a:pt x="1168" y="51"/>
                    </a:cubicBezTo>
                    <a:cubicBezTo>
                      <a:pt x="1168" y="38"/>
                      <a:pt x="1168" y="38"/>
                      <a:pt x="1168" y="38"/>
                    </a:cubicBezTo>
                    <a:cubicBezTo>
                      <a:pt x="1204" y="38"/>
                      <a:pt x="1204" y="38"/>
                      <a:pt x="1204" y="38"/>
                    </a:cubicBezTo>
                    <a:lnTo>
                      <a:pt x="1204" y="51"/>
                    </a:lnTo>
                    <a:close/>
                    <a:moveTo>
                      <a:pt x="1204" y="29"/>
                    </a:moveTo>
                    <a:cubicBezTo>
                      <a:pt x="1168" y="29"/>
                      <a:pt x="1168" y="29"/>
                      <a:pt x="1168" y="29"/>
                    </a:cubicBezTo>
                    <a:cubicBezTo>
                      <a:pt x="1168" y="15"/>
                      <a:pt x="1168" y="15"/>
                      <a:pt x="1168" y="15"/>
                    </a:cubicBezTo>
                    <a:cubicBezTo>
                      <a:pt x="1204" y="15"/>
                      <a:pt x="1204" y="15"/>
                      <a:pt x="1204" y="15"/>
                    </a:cubicBezTo>
                    <a:lnTo>
                      <a:pt x="1204" y="29"/>
                    </a:lnTo>
                    <a:close/>
                    <a:moveTo>
                      <a:pt x="1113" y="5"/>
                    </a:moveTo>
                    <a:cubicBezTo>
                      <a:pt x="1113" y="119"/>
                      <a:pt x="1113" y="119"/>
                      <a:pt x="1113" y="119"/>
                    </a:cubicBezTo>
                    <a:cubicBezTo>
                      <a:pt x="1123" y="119"/>
                      <a:pt x="1123" y="119"/>
                      <a:pt x="1123" y="119"/>
                    </a:cubicBezTo>
                    <a:cubicBezTo>
                      <a:pt x="1123" y="16"/>
                      <a:pt x="1123" y="16"/>
                      <a:pt x="1123" y="16"/>
                    </a:cubicBezTo>
                    <a:cubicBezTo>
                      <a:pt x="1139" y="16"/>
                      <a:pt x="1139" y="16"/>
                      <a:pt x="1139" y="16"/>
                    </a:cubicBezTo>
                    <a:cubicBezTo>
                      <a:pt x="1131" y="47"/>
                      <a:pt x="1131" y="47"/>
                      <a:pt x="1131" y="47"/>
                    </a:cubicBezTo>
                    <a:cubicBezTo>
                      <a:pt x="1135" y="53"/>
                      <a:pt x="1138" y="58"/>
                      <a:pt x="1140" y="64"/>
                    </a:cubicBezTo>
                    <a:cubicBezTo>
                      <a:pt x="1141" y="68"/>
                      <a:pt x="1142" y="73"/>
                      <a:pt x="1142" y="78"/>
                    </a:cubicBezTo>
                    <a:cubicBezTo>
                      <a:pt x="1142" y="82"/>
                      <a:pt x="1140" y="85"/>
                      <a:pt x="1138" y="85"/>
                    </a:cubicBezTo>
                    <a:cubicBezTo>
                      <a:pt x="1134" y="85"/>
                      <a:pt x="1130" y="84"/>
                      <a:pt x="1126" y="82"/>
                    </a:cubicBezTo>
                    <a:cubicBezTo>
                      <a:pt x="1128" y="95"/>
                      <a:pt x="1128" y="95"/>
                      <a:pt x="1128" y="95"/>
                    </a:cubicBezTo>
                    <a:cubicBezTo>
                      <a:pt x="1132" y="95"/>
                      <a:pt x="1135" y="96"/>
                      <a:pt x="1138" y="96"/>
                    </a:cubicBezTo>
                    <a:cubicBezTo>
                      <a:pt x="1147" y="96"/>
                      <a:pt x="1152" y="90"/>
                      <a:pt x="1152" y="78"/>
                    </a:cubicBezTo>
                    <a:cubicBezTo>
                      <a:pt x="1152" y="72"/>
                      <a:pt x="1151" y="66"/>
                      <a:pt x="1149" y="60"/>
                    </a:cubicBezTo>
                    <a:cubicBezTo>
                      <a:pt x="1147" y="55"/>
                      <a:pt x="1144" y="50"/>
                      <a:pt x="1141" y="45"/>
                    </a:cubicBezTo>
                    <a:cubicBezTo>
                      <a:pt x="1153" y="5"/>
                      <a:pt x="1153" y="5"/>
                      <a:pt x="1153" y="5"/>
                    </a:cubicBezTo>
                    <a:lnTo>
                      <a:pt x="1113" y="5"/>
                    </a:lnTo>
                    <a:close/>
                    <a:moveTo>
                      <a:pt x="1158" y="105"/>
                    </a:moveTo>
                    <a:cubicBezTo>
                      <a:pt x="1158" y="107"/>
                      <a:pt x="1157" y="108"/>
                      <a:pt x="1155" y="109"/>
                    </a:cubicBezTo>
                    <a:cubicBezTo>
                      <a:pt x="1160" y="119"/>
                      <a:pt x="1160" y="119"/>
                      <a:pt x="1160" y="119"/>
                    </a:cubicBezTo>
                    <a:cubicBezTo>
                      <a:pt x="1170" y="115"/>
                      <a:pt x="1180" y="110"/>
                      <a:pt x="1190" y="103"/>
                    </a:cubicBezTo>
                    <a:cubicBezTo>
                      <a:pt x="1188" y="93"/>
                      <a:pt x="1188" y="93"/>
                      <a:pt x="1188" y="93"/>
                    </a:cubicBezTo>
                    <a:cubicBezTo>
                      <a:pt x="1181" y="97"/>
                      <a:pt x="1175" y="101"/>
                      <a:pt x="1168" y="104"/>
                    </a:cubicBezTo>
                    <a:cubicBezTo>
                      <a:pt x="1168" y="61"/>
                      <a:pt x="1168" y="61"/>
                      <a:pt x="1168" y="61"/>
                    </a:cubicBezTo>
                    <a:cubicBezTo>
                      <a:pt x="1181" y="61"/>
                      <a:pt x="1181" y="61"/>
                      <a:pt x="1181" y="61"/>
                    </a:cubicBezTo>
                    <a:cubicBezTo>
                      <a:pt x="1183" y="73"/>
                      <a:pt x="1188" y="84"/>
                      <a:pt x="1193" y="93"/>
                    </a:cubicBezTo>
                    <a:cubicBezTo>
                      <a:pt x="1200" y="104"/>
                      <a:pt x="1208" y="113"/>
                      <a:pt x="1218" y="119"/>
                    </a:cubicBezTo>
                    <a:cubicBezTo>
                      <a:pt x="1225" y="110"/>
                      <a:pt x="1225" y="110"/>
                      <a:pt x="1225" y="110"/>
                    </a:cubicBezTo>
                    <a:cubicBezTo>
                      <a:pt x="1216" y="104"/>
                      <a:pt x="1208" y="97"/>
                      <a:pt x="1202" y="89"/>
                    </a:cubicBezTo>
                    <a:cubicBezTo>
                      <a:pt x="1205" y="87"/>
                      <a:pt x="1207" y="85"/>
                      <a:pt x="1210" y="82"/>
                    </a:cubicBezTo>
                    <a:cubicBezTo>
                      <a:pt x="1214" y="78"/>
                      <a:pt x="1218" y="74"/>
                      <a:pt x="1221" y="70"/>
                    </a:cubicBezTo>
                    <a:cubicBezTo>
                      <a:pt x="1212" y="63"/>
                      <a:pt x="1212" y="63"/>
                      <a:pt x="1212" y="63"/>
                    </a:cubicBezTo>
                    <a:cubicBezTo>
                      <a:pt x="1210" y="67"/>
                      <a:pt x="1207" y="71"/>
                      <a:pt x="1203" y="74"/>
                    </a:cubicBezTo>
                    <a:cubicBezTo>
                      <a:pt x="1201" y="76"/>
                      <a:pt x="1199" y="78"/>
                      <a:pt x="1197" y="80"/>
                    </a:cubicBezTo>
                    <a:cubicBezTo>
                      <a:pt x="1194" y="74"/>
                      <a:pt x="1192" y="68"/>
                      <a:pt x="1190" y="61"/>
                    </a:cubicBezTo>
                    <a:cubicBezTo>
                      <a:pt x="1214" y="61"/>
                      <a:pt x="1214" y="61"/>
                      <a:pt x="1214" y="61"/>
                    </a:cubicBezTo>
                    <a:cubicBezTo>
                      <a:pt x="1214" y="5"/>
                      <a:pt x="1214" y="5"/>
                      <a:pt x="1214" y="5"/>
                    </a:cubicBezTo>
                    <a:cubicBezTo>
                      <a:pt x="1158" y="5"/>
                      <a:pt x="1158" y="5"/>
                      <a:pt x="1158" y="5"/>
                    </a:cubicBezTo>
                    <a:cubicBezTo>
                      <a:pt x="1158" y="92"/>
                      <a:pt x="1158" y="92"/>
                      <a:pt x="1158" y="92"/>
                    </a:cubicBezTo>
                    <a:lnTo>
                      <a:pt x="1158" y="105"/>
                    </a:lnTo>
                    <a:close/>
                    <a:moveTo>
                      <a:pt x="1019" y="50"/>
                    </a:moveTo>
                    <a:cubicBezTo>
                      <a:pt x="1073" y="50"/>
                      <a:pt x="1073" y="50"/>
                      <a:pt x="1073" y="50"/>
                    </a:cubicBezTo>
                    <a:cubicBezTo>
                      <a:pt x="1073" y="62"/>
                      <a:pt x="1073" y="62"/>
                      <a:pt x="1073" y="62"/>
                    </a:cubicBezTo>
                    <a:cubicBezTo>
                      <a:pt x="1019" y="62"/>
                      <a:pt x="1019" y="62"/>
                      <a:pt x="1019" y="62"/>
                    </a:cubicBezTo>
                    <a:lnTo>
                      <a:pt x="1019" y="50"/>
                    </a:lnTo>
                    <a:close/>
                    <a:moveTo>
                      <a:pt x="1019" y="72"/>
                    </a:moveTo>
                    <a:cubicBezTo>
                      <a:pt x="1073" y="72"/>
                      <a:pt x="1073" y="72"/>
                      <a:pt x="1073" y="72"/>
                    </a:cubicBezTo>
                    <a:cubicBezTo>
                      <a:pt x="1073" y="83"/>
                      <a:pt x="1073" y="83"/>
                      <a:pt x="1073" y="83"/>
                    </a:cubicBezTo>
                    <a:cubicBezTo>
                      <a:pt x="1019" y="83"/>
                      <a:pt x="1019" y="83"/>
                      <a:pt x="1019" y="83"/>
                    </a:cubicBezTo>
                    <a:lnTo>
                      <a:pt x="1019" y="72"/>
                    </a:lnTo>
                    <a:close/>
                    <a:moveTo>
                      <a:pt x="986" y="25"/>
                    </a:moveTo>
                    <a:cubicBezTo>
                      <a:pt x="1018" y="25"/>
                      <a:pt x="1018" y="25"/>
                      <a:pt x="1018" y="25"/>
                    </a:cubicBezTo>
                    <a:cubicBezTo>
                      <a:pt x="1015" y="29"/>
                      <a:pt x="1013" y="33"/>
                      <a:pt x="1010" y="37"/>
                    </a:cubicBezTo>
                    <a:cubicBezTo>
                      <a:pt x="1002" y="47"/>
                      <a:pt x="994" y="57"/>
                      <a:pt x="984" y="65"/>
                    </a:cubicBezTo>
                    <a:cubicBezTo>
                      <a:pt x="991" y="72"/>
                      <a:pt x="991" y="72"/>
                      <a:pt x="991" y="72"/>
                    </a:cubicBezTo>
                    <a:cubicBezTo>
                      <a:pt x="998" y="67"/>
                      <a:pt x="1004" y="62"/>
                      <a:pt x="1009" y="55"/>
                    </a:cubicBezTo>
                    <a:cubicBezTo>
                      <a:pt x="1009" y="120"/>
                      <a:pt x="1009" y="120"/>
                      <a:pt x="1009" y="120"/>
                    </a:cubicBezTo>
                    <a:cubicBezTo>
                      <a:pt x="1019" y="120"/>
                      <a:pt x="1019" y="120"/>
                      <a:pt x="1019" y="120"/>
                    </a:cubicBezTo>
                    <a:cubicBezTo>
                      <a:pt x="1019" y="93"/>
                      <a:pt x="1019" y="93"/>
                      <a:pt x="1019" y="93"/>
                    </a:cubicBezTo>
                    <a:cubicBezTo>
                      <a:pt x="1073" y="93"/>
                      <a:pt x="1073" y="93"/>
                      <a:pt x="1073" y="93"/>
                    </a:cubicBezTo>
                    <a:cubicBezTo>
                      <a:pt x="1073" y="103"/>
                      <a:pt x="1073" y="103"/>
                      <a:pt x="1073" y="103"/>
                    </a:cubicBezTo>
                    <a:cubicBezTo>
                      <a:pt x="1073" y="106"/>
                      <a:pt x="1072" y="108"/>
                      <a:pt x="1070" y="108"/>
                    </a:cubicBezTo>
                    <a:cubicBezTo>
                      <a:pt x="1064" y="108"/>
                      <a:pt x="1057" y="107"/>
                      <a:pt x="1050" y="106"/>
                    </a:cubicBezTo>
                    <a:cubicBezTo>
                      <a:pt x="1052" y="118"/>
                      <a:pt x="1052" y="118"/>
                      <a:pt x="1052" y="118"/>
                    </a:cubicBezTo>
                    <a:cubicBezTo>
                      <a:pt x="1059" y="119"/>
                      <a:pt x="1065" y="119"/>
                      <a:pt x="1070" y="119"/>
                    </a:cubicBezTo>
                    <a:cubicBezTo>
                      <a:pt x="1079" y="119"/>
                      <a:pt x="1083" y="114"/>
                      <a:pt x="1083" y="105"/>
                    </a:cubicBezTo>
                    <a:cubicBezTo>
                      <a:pt x="1083" y="40"/>
                      <a:pt x="1083" y="40"/>
                      <a:pt x="1083" y="40"/>
                    </a:cubicBezTo>
                    <a:cubicBezTo>
                      <a:pt x="1021" y="40"/>
                      <a:pt x="1021" y="40"/>
                      <a:pt x="1021" y="40"/>
                    </a:cubicBezTo>
                    <a:cubicBezTo>
                      <a:pt x="1021" y="39"/>
                      <a:pt x="1021" y="39"/>
                      <a:pt x="1022" y="38"/>
                    </a:cubicBezTo>
                    <a:cubicBezTo>
                      <a:pt x="1025" y="34"/>
                      <a:pt x="1027" y="30"/>
                      <a:pt x="1029" y="25"/>
                    </a:cubicBezTo>
                    <a:cubicBezTo>
                      <a:pt x="1093" y="25"/>
                      <a:pt x="1093" y="25"/>
                      <a:pt x="1093" y="25"/>
                    </a:cubicBezTo>
                    <a:cubicBezTo>
                      <a:pt x="1093" y="15"/>
                      <a:pt x="1093" y="15"/>
                      <a:pt x="1093" y="15"/>
                    </a:cubicBezTo>
                    <a:cubicBezTo>
                      <a:pt x="1034" y="15"/>
                      <a:pt x="1034" y="15"/>
                      <a:pt x="1034" y="15"/>
                    </a:cubicBezTo>
                    <a:cubicBezTo>
                      <a:pt x="1036" y="11"/>
                      <a:pt x="1038" y="7"/>
                      <a:pt x="1039" y="2"/>
                    </a:cubicBezTo>
                    <a:cubicBezTo>
                      <a:pt x="1029" y="0"/>
                      <a:pt x="1029" y="0"/>
                      <a:pt x="1029" y="0"/>
                    </a:cubicBezTo>
                    <a:cubicBezTo>
                      <a:pt x="1028" y="5"/>
                      <a:pt x="1026" y="10"/>
                      <a:pt x="1023" y="15"/>
                    </a:cubicBezTo>
                    <a:cubicBezTo>
                      <a:pt x="986" y="15"/>
                      <a:pt x="986" y="15"/>
                      <a:pt x="986" y="15"/>
                    </a:cubicBezTo>
                    <a:lnTo>
                      <a:pt x="986" y="25"/>
                    </a:lnTo>
                    <a:close/>
                    <a:moveTo>
                      <a:pt x="940" y="11"/>
                    </a:moveTo>
                    <a:cubicBezTo>
                      <a:pt x="946" y="16"/>
                      <a:pt x="951" y="21"/>
                      <a:pt x="955" y="26"/>
                    </a:cubicBezTo>
                    <a:cubicBezTo>
                      <a:pt x="962" y="18"/>
                      <a:pt x="962" y="18"/>
                      <a:pt x="962" y="18"/>
                    </a:cubicBezTo>
                    <a:cubicBezTo>
                      <a:pt x="958" y="13"/>
                      <a:pt x="953" y="8"/>
                      <a:pt x="948" y="4"/>
                    </a:cubicBezTo>
                    <a:lnTo>
                      <a:pt x="940" y="11"/>
                    </a:lnTo>
                    <a:close/>
                    <a:moveTo>
                      <a:pt x="872" y="38"/>
                    </a:moveTo>
                    <a:cubicBezTo>
                      <a:pt x="912" y="38"/>
                      <a:pt x="912" y="38"/>
                      <a:pt x="912" y="38"/>
                    </a:cubicBezTo>
                    <a:cubicBezTo>
                      <a:pt x="907" y="48"/>
                      <a:pt x="901" y="58"/>
                      <a:pt x="894" y="68"/>
                    </a:cubicBezTo>
                    <a:cubicBezTo>
                      <a:pt x="886" y="79"/>
                      <a:pt x="877" y="88"/>
                      <a:pt x="869" y="94"/>
                    </a:cubicBezTo>
                    <a:cubicBezTo>
                      <a:pt x="874" y="104"/>
                      <a:pt x="874" y="104"/>
                      <a:pt x="874" y="104"/>
                    </a:cubicBezTo>
                    <a:cubicBezTo>
                      <a:pt x="882" y="99"/>
                      <a:pt x="891" y="90"/>
                      <a:pt x="902" y="76"/>
                    </a:cubicBezTo>
                    <a:cubicBezTo>
                      <a:pt x="908" y="69"/>
                      <a:pt x="913" y="59"/>
                      <a:pt x="918" y="49"/>
                    </a:cubicBezTo>
                    <a:cubicBezTo>
                      <a:pt x="918" y="120"/>
                      <a:pt x="918" y="120"/>
                      <a:pt x="918" y="120"/>
                    </a:cubicBezTo>
                    <a:cubicBezTo>
                      <a:pt x="928" y="120"/>
                      <a:pt x="928" y="120"/>
                      <a:pt x="928" y="120"/>
                    </a:cubicBezTo>
                    <a:cubicBezTo>
                      <a:pt x="928" y="49"/>
                      <a:pt x="928" y="49"/>
                      <a:pt x="928" y="49"/>
                    </a:cubicBezTo>
                    <a:cubicBezTo>
                      <a:pt x="933" y="60"/>
                      <a:pt x="938" y="69"/>
                      <a:pt x="944" y="77"/>
                    </a:cubicBezTo>
                    <a:cubicBezTo>
                      <a:pt x="952" y="89"/>
                      <a:pt x="961" y="98"/>
                      <a:pt x="971" y="105"/>
                    </a:cubicBezTo>
                    <a:cubicBezTo>
                      <a:pt x="977" y="94"/>
                      <a:pt x="977" y="94"/>
                      <a:pt x="977" y="94"/>
                    </a:cubicBezTo>
                    <a:cubicBezTo>
                      <a:pt x="967" y="87"/>
                      <a:pt x="959" y="79"/>
                      <a:pt x="952" y="69"/>
                    </a:cubicBezTo>
                    <a:cubicBezTo>
                      <a:pt x="945" y="60"/>
                      <a:pt x="940" y="50"/>
                      <a:pt x="935" y="38"/>
                    </a:cubicBezTo>
                    <a:cubicBezTo>
                      <a:pt x="975" y="38"/>
                      <a:pt x="975" y="38"/>
                      <a:pt x="975" y="38"/>
                    </a:cubicBezTo>
                    <a:cubicBezTo>
                      <a:pt x="975" y="28"/>
                      <a:pt x="975" y="28"/>
                      <a:pt x="975" y="28"/>
                    </a:cubicBezTo>
                    <a:cubicBezTo>
                      <a:pt x="928" y="28"/>
                      <a:pt x="928" y="28"/>
                      <a:pt x="928" y="28"/>
                    </a:cubicBezTo>
                    <a:cubicBezTo>
                      <a:pt x="928" y="1"/>
                      <a:pt x="928" y="1"/>
                      <a:pt x="928" y="1"/>
                    </a:cubicBezTo>
                    <a:cubicBezTo>
                      <a:pt x="918" y="1"/>
                      <a:pt x="918" y="1"/>
                      <a:pt x="918" y="1"/>
                    </a:cubicBezTo>
                    <a:cubicBezTo>
                      <a:pt x="918" y="28"/>
                      <a:pt x="918" y="28"/>
                      <a:pt x="918" y="28"/>
                    </a:cubicBezTo>
                    <a:cubicBezTo>
                      <a:pt x="872" y="28"/>
                      <a:pt x="872" y="28"/>
                      <a:pt x="872" y="28"/>
                    </a:cubicBezTo>
                    <a:lnTo>
                      <a:pt x="872" y="38"/>
                    </a:lnTo>
                    <a:close/>
                    <a:moveTo>
                      <a:pt x="838" y="58"/>
                    </a:moveTo>
                    <a:cubicBezTo>
                      <a:pt x="834" y="68"/>
                      <a:pt x="828" y="77"/>
                      <a:pt x="822" y="84"/>
                    </a:cubicBezTo>
                    <a:cubicBezTo>
                      <a:pt x="815" y="77"/>
                      <a:pt x="810" y="68"/>
                      <a:pt x="806" y="58"/>
                    </a:cubicBezTo>
                    <a:lnTo>
                      <a:pt x="838" y="58"/>
                    </a:lnTo>
                    <a:close/>
                    <a:moveTo>
                      <a:pt x="788" y="28"/>
                    </a:moveTo>
                    <a:cubicBezTo>
                      <a:pt x="814" y="28"/>
                      <a:pt x="814" y="28"/>
                      <a:pt x="814" y="28"/>
                    </a:cubicBezTo>
                    <a:cubicBezTo>
                      <a:pt x="814" y="47"/>
                      <a:pt x="814" y="47"/>
                      <a:pt x="814" y="47"/>
                    </a:cubicBezTo>
                    <a:cubicBezTo>
                      <a:pt x="789" y="47"/>
                      <a:pt x="789" y="47"/>
                      <a:pt x="789" y="47"/>
                    </a:cubicBezTo>
                    <a:cubicBezTo>
                      <a:pt x="789" y="58"/>
                      <a:pt x="789" y="58"/>
                      <a:pt x="789" y="58"/>
                    </a:cubicBezTo>
                    <a:cubicBezTo>
                      <a:pt x="796" y="58"/>
                      <a:pt x="796" y="58"/>
                      <a:pt x="796" y="58"/>
                    </a:cubicBezTo>
                    <a:cubicBezTo>
                      <a:pt x="800" y="71"/>
                      <a:pt x="806" y="82"/>
                      <a:pt x="814" y="92"/>
                    </a:cubicBezTo>
                    <a:cubicBezTo>
                      <a:pt x="804" y="99"/>
                      <a:pt x="793" y="105"/>
                      <a:pt x="779" y="109"/>
                    </a:cubicBezTo>
                    <a:cubicBezTo>
                      <a:pt x="784" y="119"/>
                      <a:pt x="784" y="119"/>
                      <a:pt x="784" y="119"/>
                    </a:cubicBezTo>
                    <a:cubicBezTo>
                      <a:pt x="798" y="115"/>
                      <a:pt x="810" y="109"/>
                      <a:pt x="821" y="100"/>
                    </a:cubicBezTo>
                    <a:cubicBezTo>
                      <a:pt x="830" y="108"/>
                      <a:pt x="839" y="115"/>
                      <a:pt x="851" y="119"/>
                    </a:cubicBezTo>
                    <a:cubicBezTo>
                      <a:pt x="857" y="108"/>
                      <a:pt x="857" y="108"/>
                      <a:pt x="857" y="108"/>
                    </a:cubicBezTo>
                    <a:cubicBezTo>
                      <a:pt x="846" y="104"/>
                      <a:pt x="837" y="99"/>
                      <a:pt x="829" y="92"/>
                    </a:cubicBezTo>
                    <a:cubicBezTo>
                      <a:pt x="839" y="82"/>
                      <a:pt x="846" y="67"/>
                      <a:pt x="852" y="47"/>
                    </a:cubicBezTo>
                    <a:cubicBezTo>
                      <a:pt x="825" y="47"/>
                      <a:pt x="825" y="47"/>
                      <a:pt x="825" y="47"/>
                    </a:cubicBezTo>
                    <a:cubicBezTo>
                      <a:pt x="825" y="28"/>
                      <a:pt x="825" y="28"/>
                      <a:pt x="825" y="28"/>
                    </a:cubicBezTo>
                    <a:cubicBezTo>
                      <a:pt x="854" y="28"/>
                      <a:pt x="854" y="28"/>
                      <a:pt x="854" y="28"/>
                    </a:cubicBezTo>
                    <a:cubicBezTo>
                      <a:pt x="854" y="18"/>
                      <a:pt x="854" y="18"/>
                      <a:pt x="854" y="18"/>
                    </a:cubicBezTo>
                    <a:cubicBezTo>
                      <a:pt x="825" y="18"/>
                      <a:pt x="825" y="18"/>
                      <a:pt x="825" y="18"/>
                    </a:cubicBezTo>
                    <a:cubicBezTo>
                      <a:pt x="825" y="1"/>
                      <a:pt x="825" y="1"/>
                      <a:pt x="825" y="1"/>
                    </a:cubicBezTo>
                    <a:cubicBezTo>
                      <a:pt x="814" y="1"/>
                      <a:pt x="814" y="1"/>
                      <a:pt x="814" y="1"/>
                    </a:cubicBezTo>
                    <a:cubicBezTo>
                      <a:pt x="814" y="18"/>
                      <a:pt x="814" y="18"/>
                      <a:pt x="814" y="18"/>
                    </a:cubicBezTo>
                    <a:cubicBezTo>
                      <a:pt x="788" y="18"/>
                      <a:pt x="788" y="18"/>
                      <a:pt x="788" y="18"/>
                    </a:cubicBezTo>
                    <a:lnTo>
                      <a:pt x="788" y="28"/>
                    </a:lnTo>
                    <a:close/>
                    <a:moveTo>
                      <a:pt x="745" y="34"/>
                    </a:moveTo>
                    <a:cubicBezTo>
                      <a:pt x="761" y="34"/>
                      <a:pt x="761" y="34"/>
                      <a:pt x="761" y="34"/>
                    </a:cubicBezTo>
                    <a:cubicBezTo>
                      <a:pt x="761" y="62"/>
                      <a:pt x="761" y="62"/>
                      <a:pt x="761" y="62"/>
                    </a:cubicBezTo>
                    <a:cubicBezTo>
                      <a:pt x="755" y="64"/>
                      <a:pt x="748" y="66"/>
                      <a:pt x="742" y="67"/>
                    </a:cubicBezTo>
                    <a:cubicBezTo>
                      <a:pt x="745" y="79"/>
                      <a:pt x="745" y="79"/>
                      <a:pt x="745" y="79"/>
                    </a:cubicBezTo>
                    <a:cubicBezTo>
                      <a:pt x="751" y="77"/>
                      <a:pt x="756" y="75"/>
                      <a:pt x="761" y="74"/>
                    </a:cubicBezTo>
                    <a:cubicBezTo>
                      <a:pt x="761" y="102"/>
                      <a:pt x="761" y="102"/>
                      <a:pt x="761" y="102"/>
                    </a:cubicBezTo>
                    <a:cubicBezTo>
                      <a:pt x="761" y="105"/>
                      <a:pt x="760" y="106"/>
                      <a:pt x="760" y="107"/>
                    </a:cubicBezTo>
                    <a:cubicBezTo>
                      <a:pt x="760" y="108"/>
                      <a:pt x="759" y="109"/>
                      <a:pt x="758" y="109"/>
                    </a:cubicBezTo>
                    <a:cubicBezTo>
                      <a:pt x="753" y="109"/>
                      <a:pt x="749" y="108"/>
                      <a:pt x="745" y="106"/>
                    </a:cubicBezTo>
                    <a:cubicBezTo>
                      <a:pt x="747" y="118"/>
                      <a:pt x="747" y="118"/>
                      <a:pt x="747" y="118"/>
                    </a:cubicBezTo>
                    <a:cubicBezTo>
                      <a:pt x="751" y="119"/>
                      <a:pt x="755" y="119"/>
                      <a:pt x="759" y="119"/>
                    </a:cubicBezTo>
                    <a:cubicBezTo>
                      <a:pt x="764" y="119"/>
                      <a:pt x="767" y="118"/>
                      <a:pt x="769" y="116"/>
                    </a:cubicBezTo>
                    <a:cubicBezTo>
                      <a:pt x="770" y="114"/>
                      <a:pt x="771" y="110"/>
                      <a:pt x="771" y="105"/>
                    </a:cubicBezTo>
                    <a:cubicBezTo>
                      <a:pt x="771" y="70"/>
                      <a:pt x="771" y="70"/>
                      <a:pt x="771" y="70"/>
                    </a:cubicBezTo>
                    <a:cubicBezTo>
                      <a:pt x="776" y="68"/>
                      <a:pt x="781" y="66"/>
                      <a:pt x="786" y="63"/>
                    </a:cubicBezTo>
                    <a:cubicBezTo>
                      <a:pt x="784" y="54"/>
                      <a:pt x="784" y="54"/>
                      <a:pt x="784" y="54"/>
                    </a:cubicBezTo>
                    <a:cubicBezTo>
                      <a:pt x="780" y="56"/>
                      <a:pt x="776" y="57"/>
                      <a:pt x="771" y="59"/>
                    </a:cubicBezTo>
                    <a:cubicBezTo>
                      <a:pt x="771" y="34"/>
                      <a:pt x="771" y="34"/>
                      <a:pt x="771" y="34"/>
                    </a:cubicBezTo>
                    <a:cubicBezTo>
                      <a:pt x="785" y="34"/>
                      <a:pt x="785" y="34"/>
                      <a:pt x="785" y="34"/>
                    </a:cubicBezTo>
                    <a:cubicBezTo>
                      <a:pt x="785" y="23"/>
                      <a:pt x="785" y="23"/>
                      <a:pt x="785" y="23"/>
                    </a:cubicBezTo>
                    <a:cubicBezTo>
                      <a:pt x="771" y="23"/>
                      <a:pt x="771" y="23"/>
                      <a:pt x="771" y="23"/>
                    </a:cubicBezTo>
                    <a:cubicBezTo>
                      <a:pt x="771" y="1"/>
                      <a:pt x="771" y="1"/>
                      <a:pt x="771" y="1"/>
                    </a:cubicBezTo>
                    <a:cubicBezTo>
                      <a:pt x="761" y="1"/>
                      <a:pt x="761" y="1"/>
                      <a:pt x="761" y="1"/>
                    </a:cubicBezTo>
                    <a:cubicBezTo>
                      <a:pt x="761" y="23"/>
                      <a:pt x="761" y="23"/>
                      <a:pt x="761" y="23"/>
                    </a:cubicBezTo>
                    <a:cubicBezTo>
                      <a:pt x="745" y="23"/>
                      <a:pt x="745" y="23"/>
                      <a:pt x="745" y="23"/>
                    </a:cubicBezTo>
                    <a:lnTo>
                      <a:pt x="745" y="34"/>
                    </a:lnTo>
                    <a:close/>
                    <a:moveTo>
                      <a:pt x="681" y="4"/>
                    </a:moveTo>
                    <a:cubicBezTo>
                      <a:pt x="683" y="9"/>
                      <a:pt x="685" y="14"/>
                      <a:pt x="686" y="19"/>
                    </a:cubicBezTo>
                    <a:cubicBezTo>
                      <a:pt x="698" y="16"/>
                      <a:pt x="698" y="16"/>
                      <a:pt x="698" y="16"/>
                    </a:cubicBezTo>
                    <a:cubicBezTo>
                      <a:pt x="696" y="10"/>
                      <a:pt x="694" y="5"/>
                      <a:pt x="692" y="0"/>
                    </a:cubicBezTo>
                    <a:lnTo>
                      <a:pt x="681" y="4"/>
                    </a:lnTo>
                    <a:close/>
                    <a:moveTo>
                      <a:pt x="669" y="86"/>
                    </a:moveTo>
                    <a:cubicBezTo>
                      <a:pt x="712" y="86"/>
                      <a:pt x="712" y="86"/>
                      <a:pt x="712" y="86"/>
                    </a:cubicBezTo>
                    <a:cubicBezTo>
                      <a:pt x="712" y="103"/>
                      <a:pt x="712" y="103"/>
                      <a:pt x="712" y="103"/>
                    </a:cubicBezTo>
                    <a:cubicBezTo>
                      <a:pt x="669" y="103"/>
                      <a:pt x="669" y="103"/>
                      <a:pt x="669" y="103"/>
                    </a:cubicBezTo>
                    <a:lnTo>
                      <a:pt x="669" y="86"/>
                    </a:lnTo>
                    <a:close/>
                    <a:moveTo>
                      <a:pt x="658" y="77"/>
                    </a:moveTo>
                    <a:cubicBezTo>
                      <a:pt x="658" y="119"/>
                      <a:pt x="658" y="119"/>
                      <a:pt x="658" y="119"/>
                    </a:cubicBezTo>
                    <a:cubicBezTo>
                      <a:pt x="669" y="119"/>
                      <a:pt x="669" y="119"/>
                      <a:pt x="669" y="119"/>
                    </a:cubicBezTo>
                    <a:cubicBezTo>
                      <a:pt x="669" y="113"/>
                      <a:pt x="669" y="113"/>
                      <a:pt x="669" y="113"/>
                    </a:cubicBezTo>
                    <a:cubicBezTo>
                      <a:pt x="712" y="113"/>
                      <a:pt x="712" y="113"/>
                      <a:pt x="712" y="113"/>
                    </a:cubicBezTo>
                    <a:cubicBezTo>
                      <a:pt x="712" y="119"/>
                      <a:pt x="712" y="119"/>
                      <a:pt x="712" y="119"/>
                    </a:cubicBezTo>
                    <a:cubicBezTo>
                      <a:pt x="723" y="119"/>
                      <a:pt x="723" y="119"/>
                      <a:pt x="723" y="119"/>
                    </a:cubicBezTo>
                    <a:cubicBezTo>
                      <a:pt x="723" y="77"/>
                      <a:pt x="723" y="77"/>
                      <a:pt x="723" y="77"/>
                    </a:cubicBezTo>
                    <a:lnTo>
                      <a:pt x="658" y="77"/>
                    </a:lnTo>
                    <a:close/>
                    <a:moveTo>
                      <a:pt x="658" y="68"/>
                    </a:moveTo>
                    <a:cubicBezTo>
                      <a:pt x="723" y="68"/>
                      <a:pt x="723" y="68"/>
                      <a:pt x="723" y="68"/>
                    </a:cubicBezTo>
                    <a:cubicBezTo>
                      <a:pt x="723" y="59"/>
                      <a:pt x="723" y="59"/>
                      <a:pt x="723" y="59"/>
                    </a:cubicBezTo>
                    <a:cubicBezTo>
                      <a:pt x="658" y="59"/>
                      <a:pt x="658" y="59"/>
                      <a:pt x="658" y="59"/>
                    </a:cubicBezTo>
                    <a:lnTo>
                      <a:pt x="658" y="68"/>
                    </a:lnTo>
                    <a:close/>
                    <a:moveTo>
                      <a:pt x="658" y="50"/>
                    </a:moveTo>
                    <a:cubicBezTo>
                      <a:pt x="723" y="50"/>
                      <a:pt x="723" y="50"/>
                      <a:pt x="723" y="50"/>
                    </a:cubicBezTo>
                    <a:cubicBezTo>
                      <a:pt x="723" y="40"/>
                      <a:pt x="723" y="40"/>
                      <a:pt x="723" y="40"/>
                    </a:cubicBezTo>
                    <a:cubicBezTo>
                      <a:pt x="658" y="40"/>
                      <a:pt x="658" y="40"/>
                      <a:pt x="658" y="40"/>
                    </a:cubicBezTo>
                    <a:lnTo>
                      <a:pt x="658" y="50"/>
                    </a:lnTo>
                    <a:close/>
                    <a:moveTo>
                      <a:pt x="652" y="32"/>
                    </a:moveTo>
                    <a:cubicBezTo>
                      <a:pt x="730" y="32"/>
                      <a:pt x="730" y="32"/>
                      <a:pt x="730" y="32"/>
                    </a:cubicBezTo>
                    <a:cubicBezTo>
                      <a:pt x="730" y="21"/>
                      <a:pt x="730" y="21"/>
                      <a:pt x="730" y="21"/>
                    </a:cubicBezTo>
                    <a:cubicBezTo>
                      <a:pt x="652" y="21"/>
                      <a:pt x="652" y="21"/>
                      <a:pt x="652" y="21"/>
                    </a:cubicBezTo>
                    <a:lnTo>
                      <a:pt x="652" y="32"/>
                    </a:lnTo>
                    <a:close/>
                    <a:moveTo>
                      <a:pt x="617" y="52"/>
                    </a:moveTo>
                    <a:cubicBezTo>
                      <a:pt x="622" y="62"/>
                      <a:pt x="622" y="62"/>
                      <a:pt x="622" y="62"/>
                    </a:cubicBezTo>
                    <a:cubicBezTo>
                      <a:pt x="625" y="58"/>
                      <a:pt x="629" y="54"/>
                      <a:pt x="632" y="49"/>
                    </a:cubicBezTo>
                    <a:cubicBezTo>
                      <a:pt x="632" y="119"/>
                      <a:pt x="632" y="119"/>
                      <a:pt x="632" y="119"/>
                    </a:cubicBezTo>
                    <a:cubicBezTo>
                      <a:pt x="642" y="119"/>
                      <a:pt x="642" y="119"/>
                      <a:pt x="642" y="119"/>
                    </a:cubicBezTo>
                    <a:cubicBezTo>
                      <a:pt x="642" y="30"/>
                      <a:pt x="642" y="30"/>
                      <a:pt x="642" y="30"/>
                    </a:cubicBezTo>
                    <a:cubicBezTo>
                      <a:pt x="646" y="22"/>
                      <a:pt x="649" y="13"/>
                      <a:pt x="652" y="4"/>
                    </a:cubicBezTo>
                    <a:cubicBezTo>
                      <a:pt x="642" y="1"/>
                      <a:pt x="642" y="1"/>
                      <a:pt x="642" y="1"/>
                    </a:cubicBezTo>
                    <a:cubicBezTo>
                      <a:pt x="637" y="19"/>
                      <a:pt x="629" y="36"/>
                      <a:pt x="617" y="52"/>
                    </a:cubicBezTo>
                    <a:moveTo>
                      <a:pt x="491" y="54"/>
                    </a:moveTo>
                    <a:cubicBezTo>
                      <a:pt x="506" y="54"/>
                      <a:pt x="506" y="54"/>
                      <a:pt x="506" y="54"/>
                    </a:cubicBezTo>
                    <a:cubicBezTo>
                      <a:pt x="506" y="97"/>
                      <a:pt x="506" y="97"/>
                      <a:pt x="506" y="97"/>
                    </a:cubicBezTo>
                    <a:cubicBezTo>
                      <a:pt x="501" y="101"/>
                      <a:pt x="496" y="105"/>
                      <a:pt x="491" y="109"/>
                    </a:cubicBezTo>
                    <a:cubicBezTo>
                      <a:pt x="493" y="112"/>
                      <a:pt x="496" y="116"/>
                      <a:pt x="498" y="120"/>
                    </a:cubicBezTo>
                    <a:cubicBezTo>
                      <a:pt x="502" y="114"/>
                      <a:pt x="507" y="109"/>
                      <a:pt x="512" y="103"/>
                    </a:cubicBezTo>
                    <a:cubicBezTo>
                      <a:pt x="517" y="108"/>
                      <a:pt x="523" y="112"/>
                      <a:pt x="529" y="114"/>
                    </a:cubicBezTo>
                    <a:cubicBezTo>
                      <a:pt x="537" y="116"/>
                      <a:pt x="547" y="117"/>
                      <a:pt x="561" y="117"/>
                    </a:cubicBezTo>
                    <a:cubicBezTo>
                      <a:pt x="601" y="117"/>
                      <a:pt x="601" y="117"/>
                      <a:pt x="601" y="117"/>
                    </a:cubicBezTo>
                    <a:cubicBezTo>
                      <a:pt x="602" y="113"/>
                      <a:pt x="603" y="109"/>
                      <a:pt x="605" y="105"/>
                    </a:cubicBezTo>
                    <a:cubicBezTo>
                      <a:pt x="595" y="107"/>
                      <a:pt x="584" y="107"/>
                      <a:pt x="570" y="107"/>
                    </a:cubicBezTo>
                    <a:cubicBezTo>
                      <a:pt x="551" y="107"/>
                      <a:pt x="539" y="106"/>
                      <a:pt x="534" y="105"/>
                    </a:cubicBezTo>
                    <a:cubicBezTo>
                      <a:pt x="527" y="104"/>
                      <a:pt x="521" y="101"/>
                      <a:pt x="516" y="96"/>
                    </a:cubicBezTo>
                    <a:cubicBezTo>
                      <a:pt x="516" y="44"/>
                      <a:pt x="516" y="44"/>
                      <a:pt x="516" y="44"/>
                    </a:cubicBezTo>
                    <a:cubicBezTo>
                      <a:pt x="491" y="44"/>
                      <a:pt x="491" y="44"/>
                      <a:pt x="491" y="44"/>
                    </a:cubicBezTo>
                    <a:lnTo>
                      <a:pt x="491" y="54"/>
                    </a:lnTo>
                    <a:close/>
                    <a:moveTo>
                      <a:pt x="497" y="10"/>
                    </a:moveTo>
                    <a:cubicBezTo>
                      <a:pt x="502" y="16"/>
                      <a:pt x="507" y="22"/>
                      <a:pt x="510" y="29"/>
                    </a:cubicBezTo>
                    <a:cubicBezTo>
                      <a:pt x="519" y="23"/>
                      <a:pt x="519" y="23"/>
                      <a:pt x="519" y="23"/>
                    </a:cubicBezTo>
                    <a:cubicBezTo>
                      <a:pt x="516" y="17"/>
                      <a:pt x="511" y="10"/>
                      <a:pt x="505" y="4"/>
                    </a:cubicBezTo>
                    <a:lnTo>
                      <a:pt x="497" y="10"/>
                    </a:lnTo>
                    <a:close/>
                    <a:moveTo>
                      <a:pt x="568" y="39"/>
                    </a:moveTo>
                    <a:cubicBezTo>
                      <a:pt x="589" y="39"/>
                      <a:pt x="589" y="39"/>
                      <a:pt x="589" y="39"/>
                    </a:cubicBezTo>
                    <a:cubicBezTo>
                      <a:pt x="589" y="49"/>
                      <a:pt x="589" y="49"/>
                      <a:pt x="589" y="49"/>
                    </a:cubicBezTo>
                    <a:cubicBezTo>
                      <a:pt x="568" y="49"/>
                      <a:pt x="568" y="49"/>
                      <a:pt x="568" y="49"/>
                    </a:cubicBezTo>
                    <a:lnTo>
                      <a:pt x="568" y="39"/>
                    </a:lnTo>
                    <a:close/>
                    <a:moveTo>
                      <a:pt x="538" y="39"/>
                    </a:moveTo>
                    <a:cubicBezTo>
                      <a:pt x="558" y="39"/>
                      <a:pt x="558" y="39"/>
                      <a:pt x="558" y="39"/>
                    </a:cubicBezTo>
                    <a:cubicBezTo>
                      <a:pt x="558" y="49"/>
                      <a:pt x="558" y="49"/>
                      <a:pt x="558" y="49"/>
                    </a:cubicBezTo>
                    <a:cubicBezTo>
                      <a:pt x="538" y="49"/>
                      <a:pt x="538" y="49"/>
                      <a:pt x="538" y="49"/>
                    </a:cubicBezTo>
                    <a:lnTo>
                      <a:pt x="538" y="39"/>
                    </a:lnTo>
                    <a:close/>
                    <a:moveTo>
                      <a:pt x="568" y="58"/>
                    </a:moveTo>
                    <a:cubicBezTo>
                      <a:pt x="589" y="58"/>
                      <a:pt x="589" y="58"/>
                      <a:pt x="589" y="58"/>
                    </a:cubicBezTo>
                    <a:cubicBezTo>
                      <a:pt x="589" y="69"/>
                      <a:pt x="589" y="69"/>
                      <a:pt x="589" y="69"/>
                    </a:cubicBezTo>
                    <a:cubicBezTo>
                      <a:pt x="568" y="69"/>
                      <a:pt x="568" y="69"/>
                      <a:pt x="568" y="69"/>
                    </a:cubicBezTo>
                    <a:lnTo>
                      <a:pt x="568" y="58"/>
                    </a:lnTo>
                    <a:close/>
                    <a:moveTo>
                      <a:pt x="538" y="58"/>
                    </a:moveTo>
                    <a:cubicBezTo>
                      <a:pt x="558" y="58"/>
                      <a:pt x="558" y="58"/>
                      <a:pt x="558" y="58"/>
                    </a:cubicBezTo>
                    <a:cubicBezTo>
                      <a:pt x="558" y="69"/>
                      <a:pt x="558" y="69"/>
                      <a:pt x="558" y="69"/>
                    </a:cubicBezTo>
                    <a:cubicBezTo>
                      <a:pt x="538" y="69"/>
                      <a:pt x="538" y="69"/>
                      <a:pt x="538" y="69"/>
                    </a:cubicBezTo>
                    <a:lnTo>
                      <a:pt x="538" y="58"/>
                    </a:lnTo>
                    <a:close/>
                    <a:moveTo>
                      <a:pt x="528" y="13"/>
                    </a:moveTo>
                    <a:cubicBezTo>
                      <a:pt x="580" y="13"/>
                      <a:pt x="580" y="13"/>
                      <a:pt x="580" y="13"/>
                    </a:cubicBezTo>
                    <a:cubicBezTo>
                      <a:pt x="575" y="16"/>
                      <a:pt x="570" y="20"/>
                      <a:pt x="564" y="22"/>
                    </a:cubicBezTo>
                    <a:cubicBezTo>
                      <a:pt x="560" y="20"/>
                      <a:pt x="557" y="17"/>
                      <a:pt x="553" y="15"/>
                    </a:cubicBezTo>
                    <a:cubicBezTo>
                      <a:pt x="545" y="21"/>
                      <a:pt x="545" y="21"/>
                      <a:pt x="545" y="21"/>
                    </a:cubicBezTo>
                    <a:cubicBezTo>
                      <a:pt x="550" y="24"/>
                      <a:pt x="555" y="27"/>
                      <a:pt x="559" y="30"/>
                    </a:cubicBezTo>
                    <a:cubicBezTo>
                      <a:pt x="528" y="30"/>
                      <a:pt x="528" y="30"/>
                      <a:pt x="528" y="30"/>
                    </a:cubicBezTo>
                    <a:cubicBezTo>
                      <a:pt x="528" y="100"/>
                      <a:pt x="528" y="100"/>
                      <a:pt x="528" y="100"/>
                    </a:cubicBezTo>
                    <a:cubicBezTo>
                      <a:pt x="538" y="100"/>
                      <a:pt x="538" y="100"/>
                      <a:pt x="538" y="100"/>
                    </a:cubicBezTo>
                    <a:cubicBezTo>
                      <a:pt x="538" y="78"/>
                      <a:pt x="538" y="78"/>
                      <a:pt x="538" y="78"/>
                    </a:cubicBezTo>
                    <a:cubicBezTo>
                      <a:pt x="558" y="78"/>
                      <a:pt x="558" y="78"/>
                      <a:pt x="558" y="78"/>
                    </a:cubicBezTo>
                    <a:cubicBezTo>
                      <a:pt x="558" y="98"/>
                      <a:pt x="558" y="98"/>
                      <a:pt x="558" y="98"/>
                    </a:cubicBezTo>
                    <a:cubicBezTo>
                      <a:pt x="568" y="98"/>
                      <a:pt x="568" y="98"/>
                      <a:pt x="568" y="98"/>
                    </a:cubicBezTo>
                    <a:cubicBezTo>
                      <a:pt x="568" y="78"/>
                      <a:pt x="568" y="78"/>
                      <a:pt x="568" y="78"/>
                    </a:cubicBezTo>
                    <a:cubicBezTo>
                      <a:pt x="589" y="78"/>
                      <a:pt x="589" y="78"/>
                      <a:pt x="589" y="78"/>
                    </a:cubicBezTo>
                    <a:cubicBezTo>
                      <a:pt x="589" y="87"/>
                      <a:pt x="589" y="87"/>
                      <a:pt x="589" y="87"/>
                    </a:cubicBezTo>
                    <a:cubicBezTo>
                      <a:pt x="589" y="90"/>
                      <a:pt x="588" y="92"/>
                      <a:pt x="586" y="92"/>
                    </a:cubicBezTo>
                    <a:cubicBezTo>
                      <a:pt x="582" y="92"/>
                      <a:pt x="578" y="91"/>
                      <a:pt x="573" y="90"/>
                    </a:cubicBezTo>
                    <a:cubicBezTo>
                      <a:pt x="575" y="100"/>
                      <a:pt x="575" y="100"/>
                      <a:pt x="575" y="100"/>
                    </a:cubicBezTo>
                    <a:cubicBezTo>
                      <a:pt x="579" y="100"/>
                      <a:pt x="583" y="101"/>
                      <a:pt x="586" y="101"/>
                    </a:cubicBezTo>
                    <a:cubicBezTo>
                      <a:pt x="595" y="101"/>
                      <a:pt x="599" y="97"/>
                      <a:pt x="599" y="89"/>
                    </a:cubicBezTo>
                    <a:cubicBezTo>
                      <a:pt x="599" y="30"/>
                      <a:pt x="599" y="30"/>
                      <a:pt x="599" y="30"/>
                    </a:cubicBezTo>
                    <a:cubicBezTo>
                      <a:pt x="573" y="30"/>
                      <a:pt x="573" y="30"/>
                      <a:pt x="573" y="30"/>
                    </a:cubicBezTo>
                    <a:cubicBezTo>
                      <a:pt x="572" y="30"/>
                      <a:pt x="571" y="29"/>
                      <a:pt x="571" y="28"/>
                    </a:cubicBezTo>
                    <a:cubicBezTo>
                      <a:pt x="580" y="24"/>
                      <a:pt x="589" y="18"/>
                      <a:pt x="597" y="11"/>
                    </a:cubicBezTo>
                    <a:cubicBezTo>
                      <a:pt x="597" y="4"/>
                      <a:pt x="597" y="4"/>
                      <a:pt x="597" y="4"/>
                    </a:cubicBezTo>
                    <a:cubicBezTo>
                      <a:pt x="528" y="4"/>
                      <a:pt x="528" y="4"/>
                      <a:pt x="528" y="4"/>
                    </a:cubicBezTo>
                    <a:lnTo>
                      <a:pt x="528" y="13"/>
                    </a:lnTo>
                    <a:close/>
                    <a:moveTo>
                      <a:pt x="375" y="111"/>
                    </a:moveTo>
                    <a:cubicBezTo>
                      <a:pt x="481" y="111"/>
                      <a:pt x="481" y="111"/>
                      <a:pt x="481" y="111"/>
                    </a:cubicBezTo>
                    <a:cubicBezTo>
                      <a:pt x="481" y="101"/>
                      <a:pt x="481" y="101"/>
                      <a:pt x="481" y="101"/>
                    </a:cubicBezTo>
                    <a:cubicBezTo>
                      <a:pt x="375" y="101"/>
                      <a:pt x="375" y="101"/>
                      <a:pt x="375" y="101"/>
                    </a:cubicBezTo>
                    <a:lnTo>
                      <a:pt x="375" y="111"/>
                    </a:lnTo>
                    <a:close/>
                    <a:moveTo>
                      <a:pt x="386" y="65"/>
                    </a:moveTo>
                    <a:cubicBezTo>
                      <a:pt x="470" y="65"/>
                      <a:pt x="470" y="65"/>
                      <a:pt x="470" y="65"/>
                    </a:cubicBezTo>
                    <a:cubicBezTo>
                      <a:pt x="470" y="54"/>
                      <a:pt x="470" y="54"/>
                      <a:pt x="470" y="54"/>
                    </a:cubicBezTo>
                    <a:cubicBezTo>
                      <a:pt x="386" y="54"/>
                      <a:pt x="386" y="54"/>
                      <a:pt x="386" y="54"/>
                    </a:cubicBezTo>
                    <a:lnTo>
                      <a:pt x="386" y="65"/>
                    </a:lnTo>
                    <a:close/>
                    <a:moveTo>
                      <a:pt x="381" y="21"/>
                    </a:moveTo>
                    <a:cubicBezTo>
                      <a:pt x="475" y="21"/>
                      <a:pt x="475" y="21"/>
                      <a:pt x="475" y="21"/>
                    </a:cubicBezTo>
                    <a:cubicBezTo>
                      <a:pt x="475" y="11"/>
                      <a:pt x="475" y="11"/>
                      <a:pt x="475" y="11"/>
                    </a:cubicBezTo>
                    <a:cubicBezTo>
                      <a:pt x="381" y="11"/>
                      <a:pt x="381" y="11"/>
                      <a:pt x="381" y="11"/>
                    </a:cubicBezTo>
                    <a:lnTo>
                      <a:pt x="381" y="21"/>
                    </a:lnTo>
                    <a:close/>
                    <a:moveTo>
                      <a:pt x="310" y="32"/>
                    </a:moveTo>
                    <a:cubicBezTo>
                      <a:pt x="305" y="35"/>
                      <a:pt x="299" y="37"/>
                      <a:pt x="293" y="39"/>
                    </a:cubicBezTo>
                    <a:cubicBezTo>
                      <a:pt x="300" y="48"/>
                      <a:pt x="300" y="48"/>
                      <a:pt x="300" y="48"/>
                    </a:cubicBezTo>
                    <a:cubicBezTo>
                      <a:pt x="303" y="47"/>
                      <a:pt x="306" y="46"/>
                      <a:pt x="310" y="44"/>
                    </a:cubicBezTo>
                    <a:cubicBezTo>
                      <a:pt x="310" y="54"/>
                      <a:pt x="310" y="54"/>
                      <a:pt x="310" y="54"/>
                    </a:cubicBezTo>
                    <a:cubicBezTo>
                      <a:pt x="310" y="61"/>
                      <a:pt x="313" y="65"/>
                      <a:pt x="317" y="65"/>
                    </a:cubicBezTo>
                    <a:cubicBezTo>
                      <a:pt x="319" y="66"/>
                      <a:pt x="321" y="66"/>
                      <a:pt x="323" y="66"/>
                    </a:cubicBezTo>
                    <a:cubicBezTo>
                      <a:pt x="327" y="66"/>
                      <a:pt x="327" y="66"/>
                      <a:pt x="327" y="66"/>
                    </a:cubicBezTo>
                    <a:cubicBezTo>
                      <a:pt x="335" y="66"/>
                      <a:pt x="342" y="66"/>
                      <a:pt x="350" y="65"/>
                    </a:cubicBezTo>
                    <a:cubicBezTo>
                      <a:pt x="353" y="65"/>
                      <a:pt x="356" y="64"/>
                      <a:pt x="357" y="63"/>
                    </a:cubicBezTo>
                    <a:cubicBezTo>
                      <a:pt x="360" y="60"/>
                      <a:pt x="362" y="53"/>
                      <a:pt x="363" y="44"/>
                    </a:cubicBezTo>
                    <a:cubicBezTo>
                      <a:pt x="352" y="39"/>
                      <a:pt x="352" y="39"/>
                      <a:pt x="352" y="39"/>
                    </a:cubicBezTo>
                    <a:cubicBezTo>
                      <a:pt x="351" y="49"/>
                      <a:pt x="350" y="54"/>
                      <a:pt x="348" y="54"/>
                    </a:cubicBezTo>
                    <a:cubicBezTo>
                      <a:pt x="346" y="55"/>
                      <a:pt x="344" y="55"/>
                      <a:pt x="342" y="55"/>
                    </a:cubicBezTo>
                    <a:cubicBezTo>
                      <a:pt x="342" y="55"/>
                      <a:pt x="337" y="55"/>
                      <a:pt x="327" y="55"/>
                    </a:cubicBezTo>
                    <a:cubicBezTo>
                      <a:pt x="325" y="55"/>
                      <a:pt x="323" y="55"/>
                      <a:pt x="323" y="55"/>
                    </a:cubicBezTo>
                    <a:cubicBezTo>
                      <a:pt x="322" y="55"/>
                      <a:pt x="321" y="53"/>
                      <a:pt x="321" y="49"/>
                    </a:cubicBezTo>
                    <a:cubicBezTo>
                      <a:pt x="321" y="38"/>
                      <a:pt x="321" y="38"/>
                      <a:pt x="321" y="38"/>
                    </a:cubicBezTo>
                    <a:cubicBezTo>
                      <a:pt x="324" y="36"/>
                      <a:pt x="328" y="34"/>
                      <a:pt x="331" y="32"/>
                    </a:cubicBezTo>
                    <a:cubicBezTo>
                      <a:pt x="341" y="26"/>
                      <a:pt x="349" y="20"/>
                      <a:pt x="355" y="14"/>
                    </a:cubicBezTo>
                    <a:cubicBezTo>
                      <a:pt x="346" y="9"/>
                      <a:pt x="346" y="9"/>
                      <a:pt x="346" y="9"/>
                    </a:cubicBezTo>
                    <a:cubicBezTo>
                      <a:pt x="340" y="14"/>
                      <a:pt x="333" y="19"/>
                      <a:pt x="324" y="25"/>
                    </a:cubicBezTo>
                    <a:cubicBezTo>
                      <a:pt x="323" y="25"/>
                      <a:pt x="322" y="26"/>
                      <a:pt x="321" y="26"/>
                    </a:cubicBezTo>
                    <a:cubicBezTo>
                      <a:pt x="321" y="1"/>
                      <a:pt x="321" y="1"/>
                      <a:pt x="321" y="1"/>
                    </a:cubicBezTo>
                    <a:cubicBezTo>
                      <a:pt x="310" y="1"/>
                      <a:pt x="310" y="1"/>
                      <a:pt x="310" y="1"/>
                    </a:cubicBezTo>
                    <a:lnTo>
                      <a:pt x="310" y="32"/>
                    </a:lnTo>
                    <a:close/>
                    <a:moveTo>
                      <a:pt x="255" y="90"/>
                    </a:moveTo>
                    <a:cubicBezTo>
                      <a:pt x="303" y="90"/>
                      <a:pt x="303" y="90"/>
                      <a:pt x="303" y="90"/>
                    </a:cubicBezTo>
                    <a:cubicBezTo>
                      <a:pt x="303" y="119"/>
                      <a:pt x="303" y="119"/>
                      <a:pt x="303" y="119"/>
                    </a:cubicBezTo>
                    <a:cubicBezTo>
                      <a:pt x="313" y="119"/>
                      <a:pt x="313" y="119"/>
                      <a:pt x="313" y="119"/>
                    </a:cubicBezTo>
                    <a:cubicBezTo>
                      <a:pt x="313" y="90"/>
                      <a:pt x="313" y="90"/>
                      <a:pt x="313" y="90"/>
                    </a:cubicBezTo>
                    <a:cubicBezTo>
                      <a:pt x="362" y="90"/>
                      <a:pt x="362" y="90"/>
                      <a:pt x="362" y="90"/>
                    </a:cubicBezTo>
                    <a:cubicBezTo>
                      <a:pt x="362" y="80"/>
                      <a:pt x="362" y="80"/>
                      <a:pt x="362" y="80"/>
                    </a:cubicBezTo>
                    <a:cubicBezTo>
                      <a:pt x="313" y="80"/>
                      <a:pt x="313" y="80"/>
                      <a:pt x="313" y="80"/>
                    </a:cubicBezTo>
                    <a:cubicBezTo>
                      <a:pt x="313" y="66"/>
                      <a:pt x="313" y="66"/>
                      <a:pt x="313" y="66"/>
                    </a:cubicBezTo>
                    <a:cubicBezTo>
                      <a:pt x="303" y="66"/>
                      <a:pt x="303" y="66"/>
                      <a:pt x="303" y="66"/>
                    </a:cubicBezTo>
                    <a:cubicBezTo>
                      <a:pt x="303" y="80"/>
                      <a:pt x="303" y="80"/>
                      <a:pt x="303" y="80"/>
                    </a:cubicBezTo>
                    <a:cubicBezTo>
                      <a:pt x="255" y="80"/>
                      <a:pt x="255" y="80"/>
                      <a:pt x="255" y="80"/>
                    </a:cubicBezTo>
                    <a:lnTo>
                      <a:pt x="255" y="90"/>
                    </a:lnTo>
                    <a:close/>
                    <a:moveTo>
                      <a:pt x="274" y="68"/>
                    </a:moveTo>
                    <a:cubicBezTo>
                      <a:pt x="284" y="68"/>
                      <a:pt x="284" y="68"/>
                      <a:pt x="284" y="68"/>
                    </a:cubicBezTo>
                    <a:cubicBezTo>
                      <a:pt x="284" y="25"/>
                      <a:pt x="284" y="25"/>
                      <a:pt x="284" y="25"/>
                    </a:cubicBezTo>
                    <a:cubicBezTo>
                      <a:pt x="289" y="18"/>
                      <a:pt x="293" y="12"/>
                      <a:pt x="296" y="5"/>
                    </a:cubicBezTo>
                    <a:cubicBezTo>
                      <a:pt x="287" y="0"/>
                      <a:pt x="287" y="0"/>
                      <a:pt x="287" y="0"/>
                    </a:cubicBezTo>
                    <a:cubicBezTo>
                      <a:pt x="284" y="7"/>
                      <a:pt x="279" y="14"/>
                      <a:pt x="273" y="21"/>
                    </a:cubicBezTo>
                    <a:cubicBezTo>
                      <a:pt x="267" y="28"/>
                      <a:pt x="261" y="34"/>
                      <a:pt x="255" y="39"/>
                    </a:cubicBezTo>
                    <a:cubicBezTo>
                      <a:pt x="261" y="48"/>
                      <a:pt x="261" y="48"/>
                      <a:pt x="261" y="48"/>
                    </a:cubicBezTo>
                    <a:cubicBezTo>
                      <a:pt x="265" y="45"/>
                      <a:pt x="269" y="42"/>
                      <a:pt x="274" y="37"/>
                    </a:cubicBezTo>
                    <a:lnTo>
                      <a:pt x="274" y="68"/>
                    </a:lnTo>
                    <a:close/>
                    <a:moveTo>
                      <a:pt x="223" y="119"/>
                    </a:moveTo>
                    <a:cubicBezTo>
                      <a:pt x="233" y="119"/>
                      <a:pt x="233" y="119"/>
                      <a:pt x="233" y="119"/>
                    </a:cubicBezTo>
                    <a:cubicBezTo>
                      <a:pt x="233" y="1"/>
                      <a:pt x="233" y="1"/>
                      <a:pt x="233" y="1"/>
                    </a:cubicBezTo>
                    <a:cubicBezTo>
                      <a:pt x="223" y="1"/>
                      <a:pt x="223" y="1"/>
                      <a:pt x="223" y="1"/>
                    </a:cubicBezTo>
                    <a:lnTo>
                      <a:pt x="223" y="119"/>
                    </a:lnTo>
                    <a:close/>
                    <a:moveTo>
                      <a:pt x="184" y="117"/>
                    </a:moveTo>
                    <a:cubicBezTo>
                      <a:pt x="195" y="117"/>
                      <a:pt x="195" y="117"/>
                      <a:pt x="195" y="117"/>
                    </a:cubicBezTo>
                    <a:cubicBezTo>
                      <a:pt x="195" y="3"/>
                      <a:pt x="195" y="3"/>
                      <a:pt x="195" y="3"/>
                    </a:cubicBezTo>
                    <a:cubicBezTo>
                      <a:pt x="184" y="3"/>
                      <a:pt x="184" y="3"/>
                      <a:pt x="184" y="3"/>
                    </a:cubicBezTo>
                    <a:lnTo>
                      <a:pt x="184" y="117"/>
                    </a:lnTo>
                    <a:close/>
                    <a:moveTo>
                      <a:pt x="199" y="34"/>
                    </a:moveTo>
                    <a:cubicBezTo>
                      <a:pt x="203" y="46"/>
                      <a:pt x="206" y="60"/>
                      <a:pt x="209" y="75"/>
                    </a:cubicBezTo>
                    <a:cubicBezTo>
                      <a:pt x="220" y="70"/>
                      <a:pt x="220" y="70"/>
                      <a:pt x="220" y="70"/>
                    </a:cubicBezTo>
                    <a:cubicBezTo>
                      <a:pt x="216" y="56"/>
                      <a:pt x="212" y="42"/>
                      <a:pt x="207" y="29"/>
                    </a:cubicBezTo>
                    <a:lnTo>
                      <a:pt x="199" y="34"/>
                    </a:lnTo>
                    <a:close/>
                    <a:moveTo>
                      <a:pt x="162" y="35"/>
                    </a:moveTo>
                    <a:cubicBezTo>
                      <a:pt x="166" y="47"/>
                      <a:pt x="168" y="60"/>
                      <a:pt x="170" y="75"/>
                    </a:cubicBezTo>
                    <a:cubicBezTo>
                      <a:pt x="181" y="70"/>
                      <a:pt x="181" y="70"/>
                      <a:pt x="181" y="70"/>
                    </a:cubicBezTo>
                    <a:cubicBezTo>
                      <a:pt x="178" y="56"/>
                      <a:pt x="175" y="42"/>
                      <a:pt x="171" y="30"/>
                    </a:cubicBezTo>
                    <a:lnTo>
                      <a:pt x="162" y="35"/>
                    </a:lnTo>
                    <a:close/>
                    <a:moveTo>
                      <a:pt x="149" y="60"/>
                    </a:moveTo>
                    <a:cubicBezTo>
                      <a:pt x="149" y="69"/>
                      <a:pt x="147" y="78"/>
                      <a:pt x="144" y="87"/>
                    </a:cubicBezTo>
                    <a:cubicBezTo>
                      <a:pt x="141" y="96"/>
                      <a:pt x="136" y="104"/>
                      <a:pt x="128" y="111"/>
                    </a:cubicBezTo>
                    <a:cubicBezTo>
                      <a:pt x="134" y="121"/>
                      <a:pt x="134" y="121"/>
                      <a:pt x="134" y="121"/>
                    </a:cubicBezTo>
                    <a:cubicBezTo>
                      <a:pt x="141" y="115"/>
                      <a:pt x="147" y="106"/>
                      <a:pt x="152" y="97"/>
                    </a:cubicBezTo>
                    <a:cubicBezTo>
                      <a:pt x="157" y="86"/>
                      <a:pt x="159" y="73"/>
                      <a:pt x="159" y="60"/>
                    </a:cubicBezTo>
                    <a:cubicBezTo>
                      <a:pt x="159" y="1"/>
                      <a:pt x="159" y="1"/>
                      <a:pt x="159" y="1"/>
                    </a:cubicBezTo>
                    <a:cubicBezTo>
                      <a:pt x="149" y="1"/>
                      <a:pt x="149" y="1"/>
                      <a:pt x="149" y="1"/>
                    </a:cubicBezTo>
                    <a:lnTo>
                      <a:pt x="149" y="60"/>
                    </a:lnTo>
                    <a:close/>
                    <a:moveTo>
                      <a:pt x="132" y="52"/>
                    </a:moveTo>
                    <a:cubicBezTo>
                      <a:pt x="131" y="58"/>
                      <a:pt x="129" y="64"/>
                      <a:pt x="127" y="70"/>
                    </a:cubicBezTo>
                    <a:cubicBezTo>
                      <a:pt x="136" y="77"/>
                      <a:pt x="136" y="77"/>
                      <a:pt x="136" y="77"/>
                    </a:cubicBezTo>
                    <a:cubicBezTo>
                      <a:pt x="138" y="71"/>
                      <a:pt x="140" y="64"/>
                      <a:pt x="141" y="58"/>
                    </a:cubicBezTo>
                    <a:cubicBezTo>
                      <a:pt x="142" y="51"/>
                      <a:pt x="144" y="43"/>
                      <a:pt x="145" y="33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4" y="37"/>
                      <a:pt x="133" y="44"/>
                      <a:pt x="132" y="52"/>
                    </a:cubicBezTo>
                    <a:moveTo>
                      <a:pt x="53" y="45"/>
                    </a:moveTo>
                    <a:cubicBezTo>
                      <a:pt x="53" y="81"/>
                      <a:pt x="53" y="81"/>
                      <a:pt x="53" y="81"/>
                    </a:cubicBezTo>
                    <a:cubicBezTo>
                      <a:pt x="53" y="87"/>
                      <a:pt x="51" y="92"/>
                      <a:pt x="49" y="98"/>
                    </a:cubicBezTo>
                    <a:cubicBezTo>
                      <a:pt x="45" y="104"/>
                      <a:pt x="41" y="109"/>
                      <a:pt x="35" y="114"/>
                    </a:cubicBezTo>
                    <a:cubicBezTo>
                      <a:pt x="44" y="120"/>
                      <a:pt x="44" y="120"/>
                      <a:pt x="44" y="120"/>
                    </a:cubicBezTo>
                    <a:cubicBezTo>
                      <a:pt x="49" y="115"/>
                      <a:pt x="54" y="110"/>
                      <a:pt x="57" y="103"/>
                    </a:cubicBezTo>
                    <a:cubicBezTo>
                      <a:pt x="61" y="96"/>
                      <a:pt x="63" y="88"/>
                      <a:pt x="63" y="81"/>
                    </a:cubicBezTo>
                    <a:cubicBezTo>
                      <a:pt x="63" y="55"/>
                      <a:pt x="63" y="55"/>
                      <a:pt x="63" y="55"/>
                    </a:cubicBezTo>
                    <a:cubicBezTo>
                      <a:pt x="85" y="55"/>
                      <a:pt x="85" y="55"/>
                      <a:pt x="85" y="55"/>
                    </a:cubicBezTo>
                    <a:cubicBezTo>
                      <a:pt x="85" y="106"/>
                      <a:pt x="85" y="106"/>
                      <a:pt x="85" y="106"/>
                    </a:cubicBezTo>
                    <a:cubicBezTo>
                      <a:pt x="85" y="113"/>
                      <a:pt x="87" y="116"/>
                      <a:pt x="90" y="116"/>
                    </a:cubicBezTo>
                    <a:cubicBezTo>
                      <a:pt x="91" y="117"/>
                      <a:pt x="95" y="118"/>
                      <a:pt x="100" y="118"/>
                    </a:cubicBezTo>
                    <a:cubicBezTo>
                      <a:pt x="102" y="118"/>
                      <a:pt x="105" y="118"/>
                      <a:pt x="107" y="117"/>
                    </a:cubicBezTo>
                    <a:cubicBezTo>
                      <a:pt x="109" y="117"/>
                      <a:pt x="111" y="116"/>
                      <a:pt x="112" y="115"/>
                    </a:cubicBezTo>
                    <a:cubicBezTo>
                      <a:pt x="115" y="112"/>
                      <a:pt x="116" y="105"/>
                      <a:pt x="117" y="95"/>
                    </a:cubicBezTo>
                    <a:cubicBezTo>
                      <a:pt x="107" y="90"/>
                      <a:pt x="107" y="90"/>
                      <a:pt x="107" y="90"/>
                    </a:cubicBezTo>
                    <a:cubicBezTo>
                      <a:pt x="107" y="99"/>
                      <a:pt x="106" y="104"/>
                      <a:pt x="105" y="106"/>
                    </a:cubicBezTo>
                    <a:cubicBezTo>
                      <a:pt x="105" y="107"/>
                      <a:pt x="104" y="107"/>
                      <a:pt x="103" y="108"/>
                    </a:cubicBezTo>
                    <a:cubicBezTo>
                      <a:pt x="102" y="108"/>
                      <a:pt x="101" y="108"/>
                      <a:pt x="100" y="108"/>
                    </a:cubicBezTo>
                    <a:cubicBezTo>
                      <a:pt x="99" y="108"/>
                      <a:pt x="98" y="108"/>
                      <a:pt x="97" y="108"/>
                    </a:cubicBezTo>
                    <a:cubicBezTo>
                      <a:pt x="96" y="107"/>
                      <a:pt x="96" y="106"/>
                      <a:pt x="96" y="103"/>
                    </a:cubicBezTo>
                    <a:cubicBezTo>
                      <a:pt x="96" y="45"/>
                      <a:pt x="96" y="45"/>
                      <a:pt x="96" y="45"/>
                    </a:cubicBezTo>
                    <a:cubicBezTo>
                      <a:pt x="58" y="45"/>
                      <a:pt x="58" y="45"/>
                      <a:pt x="58" y="45"/>
                    </a:cubicBezTo>
                    <a:lnTo>
                      <a:pt x="53" y="45"/>
                    </a:lnTo>
                    <a:close/>
                    <a:moveTo>
                      <a:pt x="44" y="31"/>
                    </a:moveTo>
                    <a:cubicBezTo>
                      <a:pt x="112" y="31"/>
                      <a:pt x="112" y="31"/>
                      <a:pt x="112" y="31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44" y="20"/>
                      <a:pt x="44" y="20"/>
                      <a:pt x="44" y="20"/>
                    </a:cubicBezTo>
                    <a:lnTo>
                      <a:pt x="44" y="31"/>
                    </a:lnTo>
                    <a:close/>
                    <a:moveTo>
                      <a:pt x="67" y="3"/>
                    </a:moveTo>
                    <a:cubicBezTo>
                      <a:pt x="69" y="8"/>
                      <a:pt x="71" y="13"/>
                      <a:pt x="73" y="18"/>
                    </a:cubicBezTo>
                    <a:cubicBezTo>
                      <a:pt x="83" y="15"/>
                      <a:pt x="83" y="15"/>
                      <a:pt x="83" y="15"/>
                    </a:cubicBezTo>
                    <a:cubicBezTo>
                      <a:pt x="82" y="9"/>
                      <a:pt x="79" y="5"/>
                      <a:pt x="76" y="0"/>
                    </a:cubicBezTo>
                    <a:lnTo>
                      <a:pt x="67" y="3"/>
                    </a:lnTo>
                    <a:close/>
                    <a:moveTo>
                      <a:pt x="2" y="34"/>
                    </a:moveTo>
                    <a:cubicBezTo>
                      <a:pt x="18" y="34"/>
                      <a:pt x="18" y="34"/>
                      <a:pt x="18" y="34"/>
                    </a:cubicBezTo>
                    <a:cubicBezTo>
                      <a:pt x="16" y="41"/>
                      <a:pt x="14" y="49"/>
                      <a:pt x="12" y="56"/>
                    </a:cubicBezTo>
                    <a:cubicBezTo>
                      <a:pt x="8" y="66"/>
                      <a:pt x="4" y="74"/>
                      <a:pt x="0" y="81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11" y="82"/>
                      <a:pt x="14" y="75"/>
                      <a:pt x="17" y="69"/>
                    </a:cubicBezTo>
                    <a:cubicBezTo>
                      <a:pt x="18" y="67"/>
                      <a:pt x="18" y="64"/>
                      <a:pt x="19" y="62"/>
                    </a:cubicBezTo>
                    <a:cubicBezTo>
                      <a:pt x="19" y="119"/>
                      <a:pt x="19" y="119"/>
                      <a:pt x="19" y="119"/>
                    </a:cubicBezTo>
                    <a:cubicBezTo>
                      <a:pt x="28" y="119"/>
                      <a:pt x="28" y="119"/>
                      <a:pt x="28" y="119"/>
                    </a:cubicBezTo>
                    <a:cubicBezTo>
                      <a:pt x="28" y="59"/>
                      <a:pt x="28" y="59"/>
                      <a:pt x="28" y="59"/>
                    </a:cubicBezTo>
                    <a:cubicBezTo>
                      <a:pt x="32" y="64"/>
                      <a:pt x="36" y="68"/>
                      <a:pt x="39" y="73"/>
                    </a:cubicBezTo>
                    <a:cubicBezTo>
                      <a:pt x="45" y="64"/>
                      <a:pt x="45" y="64"/>
                      <a:pt x="45" y="64"/>
                    </a:cubicBezTo>
                    <a:cubicBezTo>
                      <a:pt x="41" y="58"/>
                      <a:pt x="35" y="52"/>
                      <a:pt x="28" y="4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42" y="34"/>
                      <a:pt x="42" y="34"/>
                      <a:pt x="42" y="34"/>
                    </a:cubicBezTo>
                    <a:cubicBezTo>
                      <a:pt x="42" y="24"/>
                      <a:pt x="42" y="24"/>
                      <a:pt x="42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2" y="24"/>
                      <a:pt x="2" y="24"/>
                      <a:pt x="2" y="24"/>
                    </a:cubicBezTo>
                    <a:lnTo>
                      <a:pt x="2" y="34"/>
                    </a:lnTo>
                    <a:close/>
                  </a:path>
                </a:pathLst>
              </a:custGeom>
              <a:solidFill>
                <a:srgbClr val="6678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4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1" name="矩形 30"/>
            <p:cNvSpPr/>
            <p:nvPr userDrawn="1"/>
          </p:nvSpPr>
          <p:spPr>
            <a:xfrm>
              <a:off x="3790791" y="2678632"/>
              <a:ext cx="1544724" cy="3046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31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 dirty="0" smtClean="0">
                  <a:solidFill>
                    <a:srgbClr val="6678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www.h3c.com.cn</a:t>
              </a:r>
              <a:endParaRPr lang="zh-CN" altLang="zh-CN" sz="1000" dirty="0" smtClean="0">
                <a:solidFill>
                  <a:srgbClr val="6678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418733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8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8"/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914378"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8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8"/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914378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06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iming>
    <p:tnLst>
      <p:par>
        <p:cTn id="1" dur="indefinite" restart="never" nodeType="tmRoot"/>
      </p:par>
    </p:tnLst>
  </p:timing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2870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68" tIns="34289" rIns="68568" bIns="342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8532813" y="4893478"/>
            <a:ext cx="533400" cy="207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8568" tIns="34289" rIns="68568" bIns="34289"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00084A28-E19A-4398-AFA0-3AE0C232C5E4}" type="slidenum">
              <a:rPr lang="en-US" altLang="zh-CN" sz="900">
                <a:solidFill>
                  <a:prstClr val="black"/>
                </a:solidFill>
                <a:latin typeface="微软雅黑" pitchFamily="34" charset="-122"/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900" dirty="0">
              <a:solidFill>
                <a:prstClr val="black"/>
              </a:solidFill>
              <a:latin typeface="微软雅黑" pitchFamily="34" charset="-122"/>
            </a:endParaRPr>
          </a:p>
        </p:txBody>
      </p:sp>
      <p:sp>
        <p:nvSpPr>
          <p:cNvPr id="1029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723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68" tIns="34289" rIns="68568" bIns="3428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单击此处编辑母版标题样式</a:t>
            </a:r>
          </a:p>
        </p:txBody>
      </p:sp>
      <p:pic>
        <p:nvPicPr>
          <p:cNvPr id="1030" name="Picture 27" descr="H3C_彩色"/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7143" t="-28403" r="-7143" b="-42012"/>
          <a:stretch>
            <a:fillRect/>
          </a:stretch>
        </p:blipFill>
        <p:spPr bwMode="auto">
          <a:xfrm>
            <a:off x="7810500" y="141685"/>
            <a:ext cx="11049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9" name="Freeform 15"/>
          <p:cNvSpPr>
            <a:spLocks/>
          </p:cNvSpPr>
          <p:nvPr/>
        </p:nvSpPr>
        <p:spPr bwMode="auto">
          <a:xfrm>
            <a:off x="520701" y="4711313"/>
            <a:ext cx="660400" cy="429815"/>
          </a:xfrm>
          <a:custGeom>
            <a:avLst/>
            <a:gdLst/>
            <a:ahLst/>
            <a:cxnLst>
              <a:cxn ang="0">
                <a:pos x="121" y="421"/>
              </a:cxn>
              <a:cxn ang="0">
                <a:pos x="0" y="210"/>
              </a:cxn>
              <a:cxn ang="0">
                <a:pos x="121" y="0"/>
              </a:cxn>
              <a:cxn ang="0">
                <a:pos x="363" y="0"/>
              </a:cxn>
              <a:cxn ang="0">
                <a:pos x="484" y="210"/>
              </a:cxn>
              <a:cxn ang="0">
                <a:pos x="363" y="421"/>
              </a:cxn>
              <a:cxn ang="0">
                <a:pos x="121" y="421"/>
              </a:cxn>
            </a:cxnLst>
            <a:rect l="0" t="0" r="r" b="b"/>
            <a:pathLst>
              <a:path w="484" h="421">
                <a:moveTo>
                  <a:pt x="121" y="421"/>
                </a:moveTo>
                <a:lnTo>
                  <a:pt x="0" y="210"/>
                </a:lnTo>
                <a:lnTo>
                  <a:pt x="121" y="0"/>
                </a:lnTo>
                <a:lnTo>
                  <a:pt x="363" y="0"/>
                </a:lnTo>
                <a:lnTo>
                  <a:pt x="484" y="210"/>
                </a:lnTo>
                <a:lnTo>
                  <a:pt x="363" y="421"/>
                </a:lnTo>
                <a:lnTo>
                  <a:pt x="121" y="421"/>
                </a:lnTo>
                <a:close/>
              </a:path>
            </a:pathLst>
          </a:custGeom>
          <a:solidFill>
            <a:srgbClr val="EFEFEF"/>
          </a:solidFill>
          <a:ln w="9525">
            <a:noFill/>
            <a:round/>
            <a:headEnd/>
            <a:tailEnd/>
          </a:ln>
        </p:spPr>
        <p:txBody>
          <a:bodyPr lIns="68568" tIns="34289" rIns="68568" bIns="34289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/>
              </a:solidFill>
              <a:latin typeface="微软雅黑" pitchFamily="34" charset="-122"/>
            </a:endParaRPr>
          </a:p>
        </p:txBody>
      </p:sp>
      <p:sp>
        <p:nvSpPr>
          <p:cNvPr id="31" name="Freeform 23"/>
          <p:cNvSpPr>
            <a:spLocks/>
          </p:cNvSpPr>
          <p:nvPr/>
        </p:nvSpPr>
        <p:spPr bwMode="auto">
          <a:xfrm>
            <a:off x="1057276" y="4491047"/>
            <a:ext cx="661988" cy="432197"/>
          </a:xfrm>
          <a:custGeom>
            <a:avLst/>
            <a:gdLst/>
            <a:ahLst/>
            <a:cxnLst>
              <a:cxn ang="0">
                <a:pos x="121" y="421"/>
              </a:cxn>
              <a:cxn ang="0">
                <a:pos x="0" y="211"/>
              </a:cxn>
              <a:cxn ang="0">
                <a:pos x="121" y="0"/>
              </a:cxn>
              <a:cxn ang="0">
                <a:pos x="363" y="0"/>
              </a:cxn>
              <a:cxn ang="0">
                <a:pos x="484" y="211"/>
              </a:cxn>
              <a:cxn ang="0">
                <a:pos x="363" y="421"/>
              </a:cxn>
              <a:cxn ang="0">
                <a:pos x="121" y="421"/>
              </a:cxn>
            </a:cxnLst>
            <a:rect l="0" t="0" r="r" b="b"/>
            <a:pathLst>
              <a:path w="484" h="421">
                <a:moveTo>
                  <a:pt x="121" y="421"/>
                </a:moveTo>
                <a:lnTo>
                  <a:pt x="0" y="211"/>
                </a:lnTo>
                <a:lnTo>
                  <a:pt x="121" y="0"/>
                </a:lnTo>
                <a:lnTo>
                  <a:pt x="363" y="0"/>
                </a:lnTo>
                <a:lnTo>
                  <a:pt x="484" y="211"/>
                </a:lnTo>
                <a:lnTo>
                  <a:pt x="363" y="421"/>
                </a:lnTo>
                <a:lnTo>
                  <a:pt x="121" y="421"/>
                </a:lnTo>
                <a:close/>
              </a:path>
            </a:pathLst>
          </a:custGeom>
          <a:solidFill>
            <a:srgbClr val="FCEEE5"/>
          </a:solidFill>
          <a:ln w="9525">
            <a:noFill/>
            <a:round/>
            <a:headEnd/>
            <a:tailEnd/>
          </a:ln>
        </p:spPr>
        <p:txBody>
          <a:bodyPr lIns="68568" tIns="34289" rIns="68568" bIns="34289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007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微软雅黑" pitchFamily="34" charset="-122"/>
          <a:ea typeface="微软雅黑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微软雅黑" pitchFamily="34" charset="-122"/>
          <a:ea typeface="微软雅黑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微软雅黑" pitchFamily="34" charset="-122"/>
          <a:ea typeface="微软雅黑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微软雅黑" pitchFamily="34" charset="-122"/>
          <a:ea typeface="微软雅黑" pitchFamily="34" charset="-122"/>
        </a:defRPr>
      </a:lvl5pPr>
      <a:lvl6pPr marL="34283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Arial" charset="0"/>
          <a:ea typeface="华文细黑" pitchFamily="2" charset="-122"/>
        </a:defRPr>
      </a:lvl6pPr>
      <a:lvl7pPr marL="685664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Arial" charset="0"/>
          <a:ea typeface="华文细黑" pitchFamily="2" charset="-122"/>
        </a:defRPr>
      </a:lvl7pPr>
      <a:lvl8pPr marL="1028496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Arial" charset="0"/>
          <a:ea typeface="华文细黑" pitchFamily="2" charset="-122"/>
        </a:defRPr>
      </a:lvl8pPr>
      <a:lvl9pPr marL="1371328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Arial" charset="0"/>
          <a:ea typeface="华文细黑" pitchFamily="2" charset="-122"/>
        </a:defRPr>
      </a:lvl9pPr>
    </p:titleStyle>
    <p:bodyStyle>
      <a:lvl1pPr marL="257126" indent="-257126" algn="l" rtl="0" eaLnBrk="1" fontAlgn="base" hangingPunct="1">
        <a:lnSpc>
          <a:spcPct val="150000"/>
        </a:lnSpc>
        <a:spcBef>
          <a:spcPct val="0"/>
        </a:spcBef>
        <a:spcAft>
          <a:spcPct val="0"/>
        </a:spcAft>
        <a:defRPr sz="15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557101" indent="-214273" algn="l" rtl="0" eaLnBrk="1" fontAlgn="base" hangingPunct="1">
        <a:lnSpc>
          <a:spcPct val="120000"/>
        </a:lnSpc>
        <a:spcBef>
          <a:spcPct val="50000"/>
        </a:spcBef>
        <a:spcAft>
          <a:spcPct val="0"/>
        </a:spcAft>
        <a:defRPr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57081" indent="-171418" algn="l" rtl="0" eaLnBrk="1" fontAlgn="base" hangingPunct="1">
        <a:lnSpc>
          <a:spcPct val="120000"/>
        </a:lnSpc>
        <a:spcBef>
          <a:spcPct val="50000"/>
        </a:spcBef>
        <a:spcAft>
          <a:spcPct val="0"/>
        </a:spcAft>
        <a:defRPr sz="12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199910" indent="-171418" algn="l" rtl="0" eaLnBrk="1" fontAlgn="base" hangingPunct="1">
        <a:lnSpc>
          <a:spcPct val="120000"/>
        </a:lnSpc>
        <a:spcBef>
          <a:spcPct val="50000"/>
        </a:spcBef>
        <a:spcAft>
          <a:spcPct val="0"/>
        </a:spcAft>
        <a:defRPr sz="11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542740" indent="-171418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defRPr sz="9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885574" indent="-171418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defRPr sz="900">
          <a:solidFill>
            <a:schemeClr val="tx1"/>
          </a:solidFill>
          <a:latin typeface="+mj-lt"/>
          <a:ea typeface="+mn-ea"/>
        </a:defRPr>
      </a:lvl6pPr>
      <a:lvl7pPr marL="2228406" indent="-171418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defRPr sz="900">
          <a:solidFill>
            <a:schemeClr val="tx1"/>
          </a:solidFill>
          <a:latin typeface="+mj-lt"/>
          <a:ea typeface="+mn-ea"/>
        </a:defRPr>
      </a:lvl7pPr>
      <a:lvl8pPr marL="2571238" indent="-171418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defRPr sz="900">
          <a:solidFill>
            <a:schemeClr val="tx1"/>
          </a:solidFill>
          <a:latin typeface="+mj-lt"/>
          <a:ea typeface="+mn-ea"/>
        </a:defRPr>
      </a:lvl8pPr>
      <a:lvl9pPr marL="2914073" indent="-171418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defRPr sz="9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4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6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8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63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91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685800"/>
            <a:fld id="{377007C0-D7BF-473F-AE3F-7740FFA17CB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2026/8/9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6858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685800"/>
            <a:fld id="{C2BD5428-ED61-46A5-B104-0ECFC329740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96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</p:sldLayoutIdLst>
  <p:transition spd="slow">
    <p:fade/>
  </p:transition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1.png"/><Relationship Id="rId7" Type="http://schemas.openxmlformats.org/officeDocument/2006/relationships/image" Target="../media/image8.png"/><Relationship Id="rId12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7.svg"/><Relationship Id="rId4" Type="http://schemas.openxmlformats.org/officeDocument/2006/relationships/image" Target="../media/image11.svg"/><Relationship Id="rId9" Type="http://schemas.openxmlformats.org/officeDocument/2006/relationships/image" Target="../media/image9.png"/><Relationship Id="rId1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.docx"/><Relationship Id="rId13" Type="http://schemas.openxmlformats.org/officeDocument/2006/relationships/image" Target="../media/image20.wmf"/><Relationship Id="rId18" Type="http://schemas.openxmlformats.org/officeDocument/2006/relationships/image" Target="../media/image22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7.wmf"/><Relationship Id="rId12" Type="http://schemas.openxmlformats.org/officeDocument/2006/relationships/oleObject" Target="../embeddings/Microsoft_Word_97_-_2003___4.doc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4.png"/><Relationship Id="rId20" Type="http://schemas.openxmlformats.org/officeDocument/2006/relationships/image" Target="../media/image23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Microsoft_Word_97_-_2003___2.doc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5" Type="http://schemas.openxmlformats.org/officeDocument/2006/relationships/image" Target="../media/image21.wmf"/><Relationship Id="rId10" Type="http://schemas.openxmlformats.org/officeDocument/2006/relationships/oleObject" Target="../embeddings/Microsoft_Word_97_-_2003___3.doc"/><Relationship Id="rId19" Type="http://schemas.openxmlformats.org/officeDocument/2006/relationships/oleObject" Target="../embeddings/Microsoft_Word_97_-_2003___6.doc"/><Relationship Id="rId4" Type="http://schemas.openxmlformats.org/officeDocument/2006/relationships/oleObject" Target="../embeddings/Microsoft_Word_97_-_2003___1.doc"/><Relationship Id="rId9" Type="http://schemas.openxmlformats.org/officeDocument/2006/relationships/image" Target="../media/image18.wmf"/><Relationship Id="rId14" Type="http://schemas.openxmlformats.org/officeDocument/2006/relationships/oleObject" Target="../embeddings/Microsoft_Word_97_-_2003___5.doc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3609975" y="342901"/>
            <a:ext cx="23336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000" dirty="0">
                <a:latin typeface="华文琥珀" pitchFamily="2" charset="-122"/>
                <a:ea typeface="华文琥珀" pitchFamily="2" charset="-122"/>
              </a:rPr>
              <a:t>目  录</a:t>
            </a:r>
          </a:p>
        </p:txBody>
      </p:sp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928687" y="1357412"/>
            <a:ext cx="7324061" cy="2769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01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</a:t>
            </a:r>
            <a:r>
              <a:rPr lang="zh-CN" altLang="en-US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引入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02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：基础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原理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03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：架构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与状态机设计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04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：开发工具和使用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05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：成果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和代码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3962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50" y="323850"/>
            <a:ext cx="847651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40000">
              <a:lnSpc>
                <a:spcPct val="150000"/>
              </a:lnSpc>
              <a:defRPr/>
            </a:pPr>
            <a:endParaRPr lang="en-US" altLang="zh-CN" sz="2800" b="1" dirty="0">
              <a:latin typeface="Century Gothic" pitchFamily="34" charset="0"/>
              <a:ea typeface="微软雅黑" panose="020B0503020204020204" pitchFamily="34" charset="-122"/>
              <a:cs typeface="+mn-ea"/>
            </a:endParaRPr>
          </a:p>
          <a:p>
            <a:pPr indent="540000">
              <a:lnSpc>
                <a:spcPct val="150000"/>
              </a:lnSpc>
              <a:defRPr/>
            </a:pP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所内现有</a:t>
            </a:r>
            <a:r>
              <a:rPr lang="zh-CN" altLang="en-US" sz="2800" b="1" dirty="0">
                <a:solidFill>
                  <a:schemeClr val="accent2"/>
                </a:solidFill>
                <a:latin typeface="Century Gothic" pitchFamily="34" charset="0"/>
                <a:ea typeface="微软雅黑" panose="020B0503020204020204" pitchFamily="34" charset="-122"/>
                <a:cs typeface="+mn-ea"/>
              </a:rPr>
              <a:t>涉密内网</a:t>
            </a:r>
            <a:r>
              <a:rPr lang="en-US" altLang="zh-CN" sz="2800" b="1" dirty="0">
                <a:solidFill>
                  <a:schemeClr val="accent2"/>
                </a:solidFill>
                <a:latin typeface="Century Gothic" pitchFamily="34" charset="0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en-US" sz="2800" b="1" dirty="0">
                <a:solidFill>
                  <a:schemeClr val="accent2"/>
                </a:solidFill>
                <a:latin typeface="Century Gothic" pitchFamily="34" charset="0"/>
                <a:ea typeface="微软雅黑" panose="020B0503020204020204" pitchFamily="34" charset="-122"/>
                <a:cs typeface="+mn-ea"/>
              </a:rPr>
              <a:t>工控网</a:t>
            </a:r>
            <a:r>
              <a:rPr lang="en-US" altLang="zh-CN" sz="2800" b="1" dirty="0">
                <a:solidFill>
                  <a:schemeClr val="accent2"/>
                </a:solidFill>
                <a:latin typeface="Century Gothic" pitchFamily="34" charset="0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en-US" sz="2800" b="1" dirty="0">
                <a:solidFill>
                  <a:schemeClr val="accent2"/>
                </a:solidFill>
                <a:latin typeface="Century Gothic" pitchFamily="34" charset="0"/>
                <a:ea typeface="微软雅黑" panose="020B0503020204020204" pitchFamily="34" charset="-122"/>
                <a:cs typeface="+mn-ea"/>
              </a:rPr>
              <a:t>智能网</a:t>
            </a:r>
            <a:r>
              <a:rPr lang="en-US" altLang="zh-CN" sz="2800" b="1" dirty="0">
                <a:solidFill>
                  <a:schemeClr val="accent2"/>
                </a:solidFill>
                <a:latin typeface="Century Gothic" pitchFamily="34" charset="0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en-US" sz="2800" b="1" dirty="0">
                <a:solidFill>
                  <a:schemeClr val="accent2"/>
                </a:solidFill>
                <a:latin typeface="Century Gothic" pitchFamily="34" charset="0"/>
                <a:ea typeface="微软雅黑" panose="020B0503020204020204" pitchFamily="34" charset="-122"/>
                <a:cs typeface="+mn-ea"/>
              </a:rPr>
              <a:t>试验网</a:t>
            </a: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均为与互联网物理隔离环境。物理隔离网络</a:t>
            </a:r>
            <a:r>
              <a:rPr lang="zh-CN" altLang="en-US" sz="2800" b="1" dirty="0">
                <a:solidFill>
                  <a:schemeClr val="accent2"/>
                </a:solidFill>
                <a:latin typeface="Century Gothic" pitchFamily="34" charset="0"/>
                <a:ea typeface="微软雅黑" panose="020B0503020204020204" pitchFamily="34" charset="-122"/>
                <a:cs typeface="+mn-ea"/>
              </a:rPr>
              <a:t>无</a:t>
            </a:r>
            <a:r>
              <a:rPr lang="en-US" altLang="zh-CN" sz="2800" b="1" dirty="0">
                <a:solidFill>
                  <a:schemeClr val="accent2"/>
                </a:solidFill>
                <a:latin typeface="Century Gothic" pitchFamily="34" charset="0"/>
                <a:ea typeface="微软雅黑" panose="020B0503020204020204" pitchFamily="34" charset="-122"/>
                <a:cs typeface="+mn-ea"/>
              </a:rPr>
              <a:t>GPS/</a:t>
            </a:r>
            <a:r>
              <a:rPr lang="zh-CN" altLang="en-US" sz="2800" b="1" dirty="0">
                <a:solidFill>
                  <a:schemeClr val="accent2"/>
                </a:solidFill>
                <a:latin typeface="Century Gothic" pitchFamily="34" charset="0"/>
                <a:ea typeface="微软雅黑" panose="020B0503020204020204" pitchFamily="34" charset="-122"/>
                <a:cs typeface="+mn-ea"/>
              </a:rPr>
              <a:t>原子钟等外部高精度物理时间源</a:t>
            </a: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，且存在节点本地</a:t>
            </a:r>
            <a:r>
              <a:rPr lang="zh-CN" altLang="en-US" sz="2800" b="1" dirty="0">
                <a:solidFill>
                  <a:schemeClr val="accent2"/>
                </a:solidFill>
                <a:latin typeface="Century Gothic" pitchFamily="34" charset="0"/>
                <a:ea typeface="微软雅黑" panose="020B0503020204020204" pitchFamily="34" charset="-122"/>
                <a:cs typeface="+mn-ea"/>
              </a:rPr>
              <a:t>初始时钟偏差</a:t>
            </a:r>
            <a:r>
              <a:rPr lang="en-US" altLang="zh-CN" sz="2800" b="1" dirty="0">
                <a:solidFill>
                  <a:schemeClr val="accent2"/>
                </a:solidFill>
                <a:latin typeface="Century Gothic" pitchFamily="34" charset="0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en-US" sz="2800" b="1" dirty="0">
                <a:solidFill>
                  <a:schemeClr val="accent2"/>
                </a:solidFill>
                <a:latin typeface="Century Gothic" pitchFamily="34" charset="0"/>
                <a:ea typeface="微软雅黑" panose="020B0503020204020204" pitchFamily="34" charset="-122"/>
                <a:cs typeface="+mn-ea"/>
              </a:rPr>
              <a:t>时钟漂移</a:t>
            </a: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等因素，若网络中设备时间无法校准，易造成数据混乱</a:t>
            </a:r>
            <a:r>
              <a:rPr lang="en-US" altLang="zh-CN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系统故障。</a:t>
            </a:r>
            <a:endParaRPr lang="en-US" altLang="zh-CN" sz="2800" b="1" dirty="0">
              <a:latin typeface="Century Gothic" pitchFamily="34" charset="0"/>
              <a:ea typeface="微软雅黑" panose="020B0503020204020204" pitchFamily="34" charset="-122"/>
              <a:cs typeface="+mn-ea"/>
            </a:endParaRPr>
          </a:p>
          <a:p>
            <a:pPr>
              <a:defRPr/>
            </a:pPr>
            <a:endParaRPr lang="zh-CN" altLang="en-US" sz="2400" b="1" dirty="0">
              <a:solidFill>
                <a:srgbClr val="FF0000"/>
              </a:solidFill>
              <a:latin typeface="Century Gothic" pitchFamily="34" charset="0"/>
              <a:ea typeface="幼圆" pitchFamily="49" charset="-122"/>
            </a:endParaRP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xmlns="" id="{2C136199-45F0-9974-FEF5-8B7B65B7E45A}"/>
              </a:ext>
            </a:extLst>
          </p:cNvPr>
          <p:cNvSpPr/>
          <p:nvPr/>
        </p:nvSpPr>
        <p:spPr>
          <a:xfrm>
            <a:off x="108808" y="21534"/>
            <a:ext cx="89078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01. </a:t>
            </a:r>
            <a:r>
              <a:rPr lang="zh-CN" altLang="en-US" sz="3200" b="1" i="0" u="none" strike="noStrike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问题引入</a:t>
            </a:r>
            <a:r>
              <a:rPr lang="en-US" altLang="zh-CN" sz="3200" b="1" i="0" u="none" strike="noStrike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-</a:t>
            </a:r>
            <a:r>
              <a:rPr lang="zh-CN" altLang="en-US" sz="3200" b="1" i="0" u="none" strike="noStrike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项目背景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1214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8808" y="25285"/>
            <a:ext cx="89078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zh-CN" altLang="en-US" sz="32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问题引入</a:t>
            </a:r>
            <a:r>
              <a:rPr lang="en-US" altLang="zh-CN" sz="32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32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时钟漂移</a:t>
            </a:r>
            <a:endParaRPr lang="en-US" sz="11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78" b="78"/>
          <a:stretch>
            <a:fillRect/>
          </a:stretch>
        </p:blipFill>
        <p:spPr>
          <a:xfrm>
            <a:off x="150900" y="924526"/>
            <a:ext cx="3556000" cy="3213100"/>
          </a:xfrm>
          <a:prstGeom prst="rect">
            <a:avLst/>
          </a:prstGeom>
          <a:noFill/>
          <a:ln w="25400" cap="flat" cmpd="sng">
            <a:solidFill>
              <a:srgbClr val="40E0D0">
                <a:alpha val="30000"/>
              </a:srgbClr>
            </a:solidFill>
            <a:prstDash val="solid"/>
            <a:round/>
          </a:ln>
          <a:effectLst>
            <a:outerShdw blurRad="190500" dist="63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127322" y="4274867"/>
            <a:ext cx="3635083" cy="6906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图示：理想时钟、同步时钟与自由时钟偏差累积对比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3882800" y="662151"/>
            <a:ext cx="5133878" cy="1179233"/>
          </a:xfrm>
          <a:prstGeom prst="roundRect">
            <a:avLst>
              <a:gd name="adj" fmla="val 0"/>
            </a:avLst>
          </a:prstGeom>
          <a:solidFill>
            <a:schemeClr val="bg1">
              <a:alpha val="8000"/>
            </a:schemeClr>
          </a:solidFill>
          <a:ln w="12700" cap="flat" cmpd="sng">
            <a:solidFill>
              <a:schemeClr val="tx1"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963175" y="779085"/>
            <a:ext cx="406400" cy="379307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708300" y="787285"/>
            <a:ext cx="5715000" cy="3318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什么是时钟漂移</a:t>
            </a:r>
            <a:r>
              <a:rPr lang="en-US" sz="18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3894374" y="1206385"/>
            <a:ext cx="5080743" cy="72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600" dirty="0">
                <a:latin typeface="Noto Sans SC"/>
                <a:ea typeface="Noto Sans SC"/>
                <a:cs typeface="Noto Sans SC"/>
                <a:sym typeface="Noto Sans SC"/>
              </a:rPr>
              <a:t>时钟漂移是</a:t>
            </a:r>
            <a:r>
              <a:rPr lang="en-US" sz="16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计算机本地时钟与绝对时间之间的偏差</a:t>
            </a:r>
            <a:r>
              <a:rPr lang="zh-CN" altLang="en-US" sz="16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6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由硬件振荡器物理特性决定</a:t>
            </a:r>
            <a:r>
              <a:rPr lang="zh-CN" altLang="en-US" sz="16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600" dirty="0">
                <a:latin typeface="Noto Sans SC"/>
                <a:ea typeface="Noto Sans SC"/>
                <a:cs typeface="Noto Sans SC"/>
                <a:sym typeface="Noto Sans SC"/>
              </a:rPr>
              <a:t>此</a:t>
            </a:r>
            <a:r>
              <a:rPr lang="en-US" altLang="zh-CN" sz="1600" dirty="0" err="1">
                <a:latin typeface="Noto Sans SC"/>
                <a:ea typeface="Noto Sans SC"/>
                <a:cs typeface="Noto Sans SC"/>
                <a:sym typeface="Noto Sans SC"/>
              </a:rPr>
              <a:t>误差会随时间推移不断累积</a:t>
            </a:r>
            <a:r>
              <a:rPr lang="zh-CN" altLang="en-US" sz="1600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600" dirty="0"/>
          </a:p>
        </p:txBody>
      </p:sp>
      <p:sp>
        <p:nvSpPr>
          <p:cNvPr id="10" name="AutoShape 10"/>
          <p:cNvSpPr/>
          <p:nvPr/>
        </p:nvSpPr>
        <p:spPr>
          <a:xfrm>
            <a:off x="3894375" y="1956365"/>
            <a:ext cx="5122303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chemeClr val="tx1"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963175" y="195465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719876" y="1998760"/>
            <a:ext cx="4204206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物理基础：石英晶体振荡器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3944765" y="2392221"/>
            <a:ext cx="5030353" cy="79765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计算机计时依赖主板上的晶振，“</a:t>
            </a:r>
            <a:r>
              <a:rPr lang="en-US" sz="16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压电效应”产生稳定振动</a:t>
            </a:r>
            <a:r>
              <a:rPr lang="en-US" sz="16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zh-CN" altLang="en-US" sz="16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会随着</a:t>
            </a:r>
            <a:r>
              <a:rPr lang="en-US" sz="16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环境温度、电压波动或老化会导致振动频率发生微小偏移，这就是漂移产生的根本原因</a:t>
            </a:r>
            <a:r>
              <a:rPr lang="en-US" sz="16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200" dirty="0"/>
          </a:p>
        </p:txBody>
      </p:sp>
      <p:sp>
        <p:nvSpPr>
          <p:cNvPr id="14" name="AutoShape 14"/>
          <p:cNvSpPr/>
          <p:nvPr/>
        </p:nvSpPr>
        <p:spPr>
          <a:xfrm>
            <a:off x="3894375" y="3390135"/>
            <a:ext cx="5122303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chemeClr val="tx1"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986325" y="3618735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719875" y="3580635"/>
            <a:ext cx="571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衡量指标：PPM（百万分之一</a:t>
            </a:r>
            <a:r>
              <a:rPr lang="en-US" sz="18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3986326" y="3999735"/>
            <a:ext cx="4988792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600" dirty="0">
                <a:latin typeface="Noto Sans SC"/>
                <a:ea typeface="Noto Sans SC"/>
                <a:sym typeface="Noto Sans SC"/>
              </a:rPr>
              <a:t>用于量化时钟的精准度。100 ppm 的漂移率意味着时钟每天会与真实时间相差约</a:t>
            </a:r>
            <a:r>
              <a:rPr lang="en-US" altLang="zh-CN" sz="1600" dirty="0">
                <a:latin typeface="Noto Sans SC"/>
                <a:ea typeface="Noto Sans SC"/>
                <a:sym typeface="Noto Sans SC"/>
              </a:rPr>
              <a:t>±8.64</a:t>
            </a:r>
            <a:r>
              <a:rPr lang="en-US" sz="1600" dirty="0">
                <a:latin typeface="Noto Sans SC"/>
                <a:ea typeface="Noto Sans SC"/>
                <a:sym typeface="Noto Sans SC"/>
              </a:rPr>
              <a:t>秒。</a:t>
            </a:r>
            <a:endParaRPr lang="en-US" sz="1600" dirty="0">
              <a:latin typeface="Noto Sans SC"/>
              <a:ea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907197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50" y="323850"/>
            <a:ext cx="5072063" cy="5138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一、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</a:rPr>
              <a:t>问题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</a:rPr>
              <a:t>引入</a:t>
            </a:r>
            <a:r>
              <a:rPr lang="en-US" altLang="zh-CN" sz="2400" b="1" dirty="0"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2400" b="1" dirty="0">
                <a:latin typeface="Noto Sans SC"/>
                <a:ea typeface="Noto Sans SC"/>
                <a:cs typeface="Noto Sans SC"/>
                <a:sym typeface="Noto Sans SC"/>
              </a:rPr>
              <a:t>时钟漂移</a:t>
            </a:r>
            <a:endParaRPr lang="en-US" altLang="zh-CN" sz="1000" dirty="0"/>
          </a:p>
        </p:txBody>
      </p:sp>
      <p:sp>
        <p:nvSpPr>
          <p:cNvPr id="6" name="AutoShape 4"/>
          <p:cNvSpPr/>
          <p:nvPr/>
        </p:nvSpPr>
        <p:spPr>
          <a:xfrm>
            <a:off x="-163976" y="1075322"/>
            <a:ext cx="5083217" cy="400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7" name="AutoShape 5"/>
          <p:cNvSpPr/>
          <p:nvPr/>
        </p:nvSpPr>
        <p:spPr>
          <a:xfrm>
            <a:off x="90024" y="1329322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硬件层面：晶振的物理限制</a:t>
            </a:r>
            <a:endParaRPr lang="en-US" sz="1100" dirty="0"/>
          </a:p>
        </p:txBody>
      </p:sp>
      <p:sp>
        <p:nvSpPr>
          <p:cNvPr id="8" name="AutoShape 6"/>
          <p:cNvSpPr/>
          <p:nvPr/>
        </p:nvSpPr>
        <p:spPr>
          <a:xfrm>
            <a:off x="90024" y="1837322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物理层面的固有特性是时钟漂移的根本来源，受环境条件与电子器件本身的物理属性制约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24" y="2599322"/>
            <a:ext cx="304800" cy="304800"/>
          </a:xfrm>
          <a:prstGeom prst="rect">
            <a:avLst/>
          </a:prstGeom>
        </p:spPr>
      </p:pic>
      <p:sp>
        <p:nvSpPr>
          <p:cNvPr id="10" name="AutoShape 8"/>
          <p:cNvSpPr/>
          <p:nvPr/>
        </p:nvSpPr>
        <p:spPr>
          <a:xfrm>
            <a:off x="471024" y="2495147"/>
            <a:ext cx="196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环境温度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晶振仅在特定温区稳定，环境温差会直接改变谐振频率，是最主要的漂移诱因</a:t>
            </a:r>
            <a:r>
              <a:rPr lang="en-US" sz="12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11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39524" y="2599322"/>
            <a:ext cx="304800" cy="304800"/>
          </a:xfrm>
          <a:prstGeom prst="rect">
            <a:avLst/>
          </a:prstGeom>
        </p:spPr>
      </p:pic>
      <p:sp>
        <p:nvSpPr>
          <p:cNvPr id="12" name="AutoShape 10"/>
          <p:cNvSpPr/>
          <p:nvPr/>
        </p:nvSpPr>
        <p:spPr>
          <a:xfrm>
            <a:off x="2820524" y="2599322"/>
            <a:ext cx="196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器件老化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长期运行导致元件参数不可逆劣化，谐振频率随使用时长缓慢偏移，精度逐渐下降</a:t>
            </a:r>
            <a:r>
              <a:rPr lang="en-US" sz="12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13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024" y="3741997"/>
            <a:ext cx="304800" cy="304800"/>
          </a:xfrm>
          <a:prstGeom prst="rect">
            <a:avLst/>
          </a:prstGeom>
        </p:spPr>
      </p:pic>
      <p:sp>
        <p:nvSpPr>
          <p:cNvPr id="14" name="AutoShape 12"/>
          <p:cNvSpPr/>
          <p:nvPr/>
        </p:nvSpPr>
        <p:spPr>
          <a:xfrm>
            <a:off x="471024" y="3672547"/>
            <a:ext cx="196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电压波动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电源不稳干扰振荡电路能量供给，引发瞬时频率跳动，长期积累形成显著时间误差</a:t>
            </a:r>
            <a:r>
              <a:rPr lang="en-US" sz="12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15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39524" y="3718847"/>
            <a:ext cx="304800" cy="304800"/>
          </a:xfrm>
          <a:prstGeom prst="rect">
            <a:avLst/>
          </a:prstGeom>
        </p:spPr>
      </p:pic>
      <p:sp>
        <p:nvSpPr>
          <p:cNvPr id="16" name="AutoShape 14"/>
          <p:cNvSpPr/>
          <p:nvPr/>
        </p:nvSpPr>
        <p:spPr>
          <a:xfrm>
            <a:off x="2820524" y="3579947"/>
            <a:ext cx="196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精度等级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普通XO与高精度TCXO</a:t>
            </a:r>
            <a:r>
              <a:rPr lang="en-US" sz="12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2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OCXO在稳定性上有量级差异，成本与抗漂移能力成正比</a:t>
            </a:r>
            <a:r>
              <a:rPr lang="en-US" sz="12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7" name="AutoShape 15"/>
          <p:cNvSpPr/>
          <p:nvPr/>
        </p:nvSpPr>
        <p:spPr>
          <a:xfrm>
            <a:off x="5065524" y="1014793"/>
            <a:ext cx="3893281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6"/>
          <p:cNvSpPr/>
          <p:nvPr/>
        </p:nvSpPr>
        <p:spPr>
          <a:xfrm>
            <a:off x="5319524" y="1329322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 软件层面：操作系统的干扰</a:t>
            </a:r>
            <a:endParaRPr lang="en-US" sz="1100"/>
          </a:p>
        </p:txBody>
      </p:sp>
      <p:sp>
        <p:nvSpPr>
          <p:cNvPr id="19" name="AutoShape 17"/>
          <p:cNvSpPr/>
          <p:nvPr/>
        </p:nvSpPr>
        <p:spPr>
          <a:xfrm>
            <a:off x="5319524" y="1837322"/>
            <a:ext cx="3407781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操作系统的运行机制与资源调度策略，会在时间计算与中断处理环节引入机制性误差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0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19524" y="2529547"/>
            <a:ext cx="304800" cy="304800"/>
          </a:xfrm>
          <a:prstGeom prst="rect">
            <a:avLst/>
          </a:prstGeom>
        </p:spPr>
      </p:pic>
      <p:sp>
        <p:nvSpPr>
          <p:cNvPr id="21" name="AutoShape 19"/>
          <p:cNvSpPr/>
          <p:nvPr/>
        </p:nvSpPr>
        <p:spPr>
          <a:xfrm>
            <a:off x="5764024" y="2529547"/>
            <a:ext cx="304431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系统调度延迟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CPU高负载时，内核无法及时响应时钟中断请求，导致时间计数被拖延。在服务器高并发或复杂计算场景下，这种延迟会被迅速放大并积累</a:t>
            </a:r>
            <a:r>
              <a:rPr lang="en-US" sz="12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cxnSp>
        <p:nvCxnSpPr>
          <p:cNvPr id="22" name="Connector 20"/>
          <p:cNvCxnSpPr/>
          <p:nvPr/>
        </p:nvCxnSpPr>
        <p:spPr>
          <a:xfrm rot="-9291">
            <a:off x="5319533" y="3666197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Picture 2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19524" y="3995997"/>
            <a:ext cx="304800" cy="304800"/>
          </a:xfrm>
          <a:prstGeom prst="rect">
            <a:avLst/>
          </a:prstGeom>
        </p:spPr>
      </p:pic>
      <p:sp>
        <p:nvSpPr>
          <p:cNvPr id="24" name="AutoShape 22"/>
          <p:cNvSpPr/>
          <p:nvPr/>
        </p:nvSpPr>
        <p:spPr>
          <a:xfrm>
            <a:off x="5764024" y="3995997"/>
            <a:ext cx="3194781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低功耗与休眠机制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为节能而降频或进入休眠状态时，时钟中断可能被暂停、减慢甚至跳过。系统唤醒后虽会重新同步，但期间会产生时间断层，直接表现为时钟的“跳跃式”漂移。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979" y="0"/>
            <a:ext cx="2194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</a:rPr>
              <a:t>宋文凯、王兆嘉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606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4B96C6C-08E0-A0E4-518A-F38F6D026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1ECC37C-4D52-4862-34BF-CF405B098F31}"/>
              </a:ext>
            </a:extLst>
          </p:cNvPr>
          <p:cNvSpPr txBox="1"/>
          <p:nvPr/>
        </p:nvSpPr>
        <p:spPr>
          <a:xfrm>
            <a:off x="285750" y="370605"/>
            <a:ext cx="847651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依赖节点本地单调逻辑时钟，通过节点间交互形成全网共识时间</a:t>
            </a:r>
            <a:endParaRPr lang="en-US" altLang="zh-CN" sz="2800" b="1" dirty="0">
              <a:latin typeface="Century Gothic" pitchFamily="34" charset="0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endParaRPr lang="en-US" altLang="zh-CN" sz="2800" b="1" dirty="0">
              <a:latin typeface="Century Gothic" pitchFamily="34" charset="0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合成时钟严格单调递增、相对误差有界、长期不发散</a:t>
            </a:r>
            <a:endParaRPr lang="en-US" altLang="zh-CN" sz="2800" b="1" dirty="0">
              <a:latin typeface="Century Gothic" pitchFamily="34" charset="0"/>
              <a:ea typeface="微软雅黑" panose="020B0503020204020204" pitchFamily="34" charset="-122"/>
              <a:cs typeface="+mn-ea"/>
            </a:endParaRPr>
          </a:p>
          <a:p>
            <a:pPr>
              <a:defRPr/>
            </a:pPr>
            <a:endParaRPr lang="en-US" altLang="zh-CN" sz="2800" b="1" dirty="0">
              <a:latin typeface="Century Gothic" pitchFamily="34" charset="0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将硬件原始漂移抑制到 ≤ </a:t>
            </a:r>
            <a:r>
              <a:rPr lang="en-US" altLang="zh-CN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0.1 ppm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xmlns="" id="{3133D08A-988F-C0B1-5F75-336037F85639}"/>
              </a:ext>
            </a:extLst>
          </p:cNvPr>
          <p:cNvSpPr/>
          <p:nvPr/>
        </p:nvSpPr>
        <p:spPr>
          <a:xfrm>
            <a:off x="108808" y="21534"/>
            <a:ext cx="89078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zh-CN" altLang="en-US" sz="3200" b="1" dirty="0">
                <a:latin typeface="Noto Sans SC"/>
                <a:ea typeface="Noto Sans SC"/>
                <a:cs typeface="Noto Sans SC"/>
                <a:sym typeface="Noto Sans SC"/>
              </a:rPr>
              <a:t>问题引入</a:t>
            </a:r>
            <a:r>
              <a:rPr lang="en-US" altLang="zh-CN" sz="3200" b="1" dirty="0"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3200" b="1" dirty="0">
                <a:latin typeface="Noto Sans SC"/>
                <a:ea typeface="Noto Sans SC"/>
                <a:cs typeface="Noto Sans SC"/>
                <a:sym typeface="Noto Sans SC"/>
              </a:rPr>
              <a:t>建设目标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201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3609975" y="342901"/>
            <a:ext cx="23336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000" dirty="0">
                <a:latin typeface="华文琥珀" pitchFamily="2" charset="-122"/>
                <a:ea typeface="华文琥珀" pitchFamily="2" charset="-122"/>
              </a:rPr>
              <a:t>目  录</a:t>
            </a:r>
          </a:p>
        </p:txBody>
      </p:sp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928687" y="1113050"/>
            <a:ext cx="7324061" cy="32587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01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问题引入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02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：基础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原理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03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：架构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与状态机设计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04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：开发工具和使用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05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：成果和代码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06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：遗留问题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151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8C66DC5-4647-94D2-FFD6-57DD379D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xmlns="" id="{D60D469D-3E28-A4F6-9FB8-0DF35189CF4F}"/>
              </a:ext>
            </a:extLst>
          </p:cNvPr>
          <p:cNvSpPr/>
          <p:nvPr/>
        </p:nvSpPr>
        <p:spPr>
          <a:xfrm>
            <a:off x="108808" y="21534"/>
            <a:ext cx="89078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zh-CN" altLang="en-US" sz="3200" b="1" dirty="0">
                <a:latin typeface="Noto Sans SC"/>
                <a:ea typeface="Noto Sans SC"/>
                <a:cs typeface="Noto Sans SC"/>
                <a:sym typeface="Noto Sans SC"/>
              </a:rPr>
              <a:t>基础原理</a:t>
            </a:r>
            <a:r>
              <a:rPr lang="en-US" altLang="zh-CN" sz="3200" b="1" dirty="0"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3200" b="1" dirty="0">
                <a:latin typeface="Noto Sans SC"/>
                <a:ea typeface="Noto Sans SC"/>
                <a:cs typeface="Noto Sans SC"/>
                <a:sym typeface="Noto Sans SC"/>
              </a:rPr>
              <a:t>系统总体架构</a:t>
            </a:r>
            <a:endParaRPr 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EFF67949-7603-EDBC-9DE7-32AE3C24B12D}"/>
              </a:ext>
            </a:extLst>
          </p:cNvPr>
          <p:cNvSpPr txBox="1"/>
          <p:nvPr/>
        </p:nvSpPr>
        <p:spPr>
          <a:xfrm>
            <a:off x="51657" y="2832816"/>
            <a:ext cx="9011778" cy="2264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r>
              <a:rPr lang="zh-CN" altLang="en-US" sz="16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普通物理机或虚拟机、嵌入式设备或终端设备，仅配备主板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RTC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提供的本地逻辑时钟，该时钟为单调递增计数器，无硬件频率校正机制。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通信链路</a:t>
            </a:r>
            <a:r>
              <a:rPr lang="zh-CN" altLang="en-US" sz="16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采用通用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TCP/IP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网络架构，二层或三层通信，支持全连通或部分连通拓扑；使用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自定义轻量协议，保证消息传输延迟有界。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共识同步模块</a:t>
            </a:r>
            <a:r>
              <a:rPr lang="zh-CN" altLang="en-US" sz="16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部署于每个节点，采用三层抽象架构，并通过有限状态机管理节点全生命周期，实现采样、共识、漂移估计、时钟合成、闭环同步的自动化运行。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xmlns="" id="{D9F9233D-BFB4-E3F1-C43A-FCBCF0766E2D}"/>
              </a:ext>
            </a:extLst>
          </p:cNvPr>
          <p:cNvGrpSpPr/>
          <p:nvPr/>
        </p:nvGrpSpPr>
        <p:grpSpPr>
          <a:xfrm>
            <a:off x="2533745" y="788489"/>
            <a:ext cx="4935679" cy="1996360"/>
            <a:chOff x="2774377" y="1019777"/>
            <a:chExt cx="4935679" cy="199636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xmlns="" id="{9C38B2B5-96F3-944F-8F74-F515C3CA3BE8}"/>
                </a:ext>
              </a:extLst>
            </p:cNvPr>
            <p:cNvSpPr/>
            <p:nvPr/>
          </p:nvSpPr>
          <p:spPr>
            <a:xfrm>
              <a:off x="2774377" y="1044287"/>
              <a:ext cx="1340426" cy="49356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共识同步模块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xmlns="" id="{4DAF560D-56FF-02BE-4C3B-696A1236A3DF}"/>
                </a:ext>
              </a:extLst>
            </p:cNvPr>
            <p:cNvSpPr/>
            <p:nvPr/>
          </p:nvSpPr>
          <p:spPr>
            <a:xfrm>
              <a:off x="5481553" y="1044287"/>
              <a:ext cx="1340426" cy="49356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共识同步模块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xmlns="" id="{099E44A8-222B-F1CF-1FF4-909429759523}"/>
                </a:ext>
              </a:extLst>
            </p:cNvPr>
            <p:cNvSpPr/>
            <p:nvPr/>
          </p:nvSpPr>
          <p:spPr>
            <a:xfrm>
              <a:off x="4139045" y="2522569"/>
              <a:ext cx="1340426" cy="49356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共识同步</a:t>
              </a: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xmlns="" id="{FC0FE6E8-7A2C-AE4A-E3F3-8CF89BC6284A}"/>
                </a:ext>
              </a:extLst>
            </p:cNvPr>
            <p:cNvCxnSpPr>
              <a:stCxn id="7" idx="3"/>
              <a:endCxn id="9" idx="1"/>
            </p:cNvCxnSpPr>
            <p:nvPr/>
          </p:nvCxnSpPr>
          <p:spPr>
            <a:xfrm>
              <a:off x="4114803" y="1291071"/>
              <a:ext cx="136675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xmlns="" id="{2477BDC9-DE8B-2C82-282B-B31913364D8C}"/>
                </a:ext>
              </a:extLst>
            </p:cNvPr>
            <p:cNvSpPr txBox="1"/>
            <p:nvPr/>
          </p:nvSpPr>
          <p:spPr>
            <a:xfrm>
              <a:off x="4114803" y="1019777"/>
              <a:ext cx="14891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TCP/IP</a:t>
              </a:r>
              <a:r>
                <a:rPr lang="zh-CN" altLang="en-US" sz="1200" b="1" dirty="0"/>
                <a:t>（</a:t>
              </a:r>
              <a:r>
                <a:rPr lang="en-US" altLang="zh-CN" sz="1200" b="1" dirty="0"/>
                <a:t>UDP/TCP</a:t>
              </a:r>
              <a:r>
                <a:rPr lang="zh-CN" altLang="en-US" sz="1200" b="1" dirty="0"/>
                <a:t>）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xmlns="" id="{C48F6504-B3CD-ACD0-1122-80AE20D938B7}"/>
                </a:ext>
              </a:extLst>
            </p:cNvPr>
            <p:cNvSpPr txBox="1"/>
            <p:nvPr/>
          </p:nvSpPr>
          <p:spPr>
            <a:xfrm>
              <a:off x="7053808" y="1053854"/>
              <a:ext cx="656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……</a:t>
              </a:r>
              <a:endParaRPr lang="zh-CN" altLang="en-US" sz="2000" b="1" dirty="0"/>
            </a:p>
          </p:txBody>
        </p:sp>
        <p:cxnSp>
          <p:nvCxnSpPr>
            <p:cNvPr id="20" name="连接符: 肘形 19">
              <a:extLst>
                <a:ext uri="{FF2B5EF4-FFF2-40B4-BE49-F238E27FC236}">
                  <a16:creationId xmlns:a16="http://schemas.microsoft.com/office/drawing/2014/main" xmlns="" id="{417D2AB8-A0DF-6C14-FF1D-ECEA9FCF8D21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 rot="10800000" flipV="1">
              <a:off x="4809258" y="2079391"/>
              <a:ext cx="1342508" cy="443178"/>
            </a:xfrm>
            <a:prstGeom prst="bentConnector2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连接符: 肘形 23">
              <a:extLst>
                <a:ext uri="{FF2B5EF4-FFF2-40B4-BE49-F238E27FC236}">
                  <a16:creationId xmlns:a16="http://schemas.microsoft.com/office/drawing/2014/main" xmlns="" id="{85A732D2-6B7A-4505-C9B1-522B319FB4B9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3444590" y="2079391"/>
              <a:ext cx="1364668" cy="443178"/>
            </a:xfrm>
            <a:prstGeom prst="bentConnector2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xmlns="" id="{D397DE2D-0162-82A7-593B-762F135EFA50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V="1">
              <a:off x="6151766" y="1537855"/>
              <a:ext cx="0" cy="5415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xmlns="" id="{3FD01FE3-7708-24E5-0EA6-8C3B2424C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4590" y="1535257"/>
              <a:ext cx="0" cy="5441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xmlns="" id="{0D381FBE-C2A8-379F-E520-95ECF5BFE202}"/>
                </a:ext>
              </a:extLst>
            </p:cNvPr>
            <p:cNvSpPr txBox="1"/>
            <p:nvPr/>
          </p:nvSpPr>
          <p:spPr>
            <a:xfrm>
              <a:off x="4114803" y="1836303"/>
              <a:ext cx="13276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全连通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部分连通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2745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B8FD3E7-6693-66CD-5108-AD79943E2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591AB6D-7CD2-874F-9CE5-05A2E43FD9D5}"/>
              </a:ext>
            </a:extLst>
          </p:cNvPr>
          <p:cNvSpPr txBox="1"/>
          <p:nvPr/>
        </p:nvSpPr>
        <p:spPr>
          <a:xfrm>
            <a:off x="285749" y="370605"/>
            <a:ext cx="848677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zh-CN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仅使用节点自带、存在漂移的本地逻辑时</a:t>
            </a: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钟，无 </a:t>
            </a:r>
            <a:r>
              <a:rPr lang="en-US" altLang="zh-CN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NTP/GPS/</a:t>
            </a: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原子钟等外部时间源，禁止或不可用 </a:t>
            </a:r>
            <a:r>
              <a:rPr lang="en-US" altLang="zh-CN" sz="2800" b="1" dirty="0" err="1">
                <a:latin typeface="Century Gothic" pitchFamily="34" charset="0"/>
                <a:ea typeface="微软雅黑" panose="020B0503020204020204" pitchFamily="34" charset="-122"/>
                <a:cs typeface="+mn-ea"/>
              </a:rPr>
              <a:t>Chrony</a:t>
            </a:r>
            <a:r>
              <a:rPr lang="en-US" altLang="zh-CN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等传统守时方案</a:t>
            </a:r>
            <a:endParaRPr lang="en-US" altLang="zh-CN" sz="2800" b="1" dirty="0">
              <a:latin typeface="Century Gothic" pitchFamily="34" charset="0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endParaRPr lang="en-US" altLang="zh-CN" sz="2800" b="1" dirty="0">
              <a:latin typeface="Century Gothic" pitchFamily="34" charset="0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zh-CN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分布式架构，无中心节点，依靠节点间交互形成共识时间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endParaRPr lang="en-US" altLang="zh-CN" sz="2800" b="1" dirty="0">
              <a:latin typeface="Century Gothic" pitchFamily="34" charset="0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具备一定容错空间，节点数满足 </a:t>
            </a:r>
            <a:r>
              <a:rPr lang="en-US" altLang="zh-CN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n ≥ 3f+1</a:t>
            </a: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，可容忍最多 </a:t>
            </a:r>
            <a:r>
              <a:rPr lang="en-US" altLang="zh-CN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f </a:t>
            </a: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个故障</a:t>
            </a:r>
            <a:r>
              <a:rPr lang="en-US" altLang="zh-CN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en-US" sz="2800" b="1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恶意节点</a:t>
            </a:r>
            <a:endParaRPr lang="en-US" altLang="zh-CN" sz="2800" b="1" dirty="0">
              <a:latin typeface="Century Gothic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xmlns="" id="{62076F69-0324-9ED7-FD44-1C07391F4F21}"/>
              </a:ext>
            </a:extLst>
          </p:cNvPr>
          <p:cNvSpPr/>
          <p:nvPr/>
        </p:nvSpPr>
        <p:spPr>
          <a:xfrm>
            <a:off x="108808" y="21534"/>
            <a:ext cx="89078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zh-CN" altLang="en-US" sz="3200" b="1" dirty="0">
                <a:latin typeface="Noto Sans SC"/>
                <a:ea typeface="Noto Sans SC"/>
                <a:cs typeface="Noto Sans SC"/>
                <a:sym typeface="Noto Sans SC"/>
              </a:rPr>
              <a:t>基本原理</a:t>
            </a:r>
            <a:r>
              <a:rPr lang="en-US" altLang="zh-CN" sz="3200" b="1" dirty="0"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3200" b="1" dirty="0">
                <a:latin typeface="Noto Sans SC"/>
                <a:ea typeface="Noto Sans SC"/>
                <a:cs typeface="Noto Sans SC"/>
                <a:sym typeface="Noto Sans SC"/>
              </a:rPr>
              <a:t>系统约束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90832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3609975" y="342901"/>
            <a:ext cx="23336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000" dirty="0">
                <a:latin typeface="华文琥珀" pitchFamily="2" charset="-122"/>
                <a:ea typeface="华文琥珀" pitchFamily="2" charset="-122"/>
              </a:rPr>
              <a:t>目  录</a:t>
            </a:r>
          </a:p>
        </p:txBody>
      </p:sp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928687" y="1080413"/>
            <a:ext cx="7324061" cy="33239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01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问题引入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02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：基础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原理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03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：架构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与状态机设计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04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：开发工具和使用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05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：成果和代码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06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：遗留问题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411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8DDD5FD-73A4-9BEA-511F-3C0E6A85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xmlns="" id="{A6EA5859-6AED-9495-F2BF-78601B43E195}"/>
              </a:ext>
            </a:extLst>
          </p:cNvPr>
          <p:cNvSpPr/>
          <p:nvPr/>
        </p:nvSpPr>
        <p:spPr>
          <a:xfrm>
            <a:off x="108808" y="21534"/>
            <a:ext cx="89078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03. 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架构与状态机设计</a:t>
            </a:r>
            <a:r>
              <a:rPr lang="en-US" altLang="zh-CN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-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三层模型</a:t>
            </a:r>
            <a:endParaRPr lang="en-US" sz="11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CAF04A01-F497-D03C-4520-54A35FF8B01A}"/>
              </a:ext>
            </a:extLst>
          </p:cNvPr>
          <p:cNvSpPr/>
          <p:nvPr/>
        </p:nvSpPr>
        <p:spPr>
          <a:xfrm>
            <a:off x="476242" y="1152737"/>
            <a:ext cx="3957637" cy="709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第三层：分布式时钟合成与漂移校正层</a:t>
            </a:r>
            <a:endParaRPr lang="en-US" altLang="zh-CN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双向时延测量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滑动窗口线性回归 → 合成时钟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EFD884A4-1F83-B406-9024-A363D6BF0FCE}"/>
              </a:ext>
            </a:extLst>
          </p:cNvPr>
          <p:cNvSpPr/>
          <p:nvPr/>
        </p:nvSpPr>
        <p:spPr>
          <a:xfrm>
            <a:off x="476243" y="2300802"/>
            <a:ext cx="3957638" cy="709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第二层：分布式时间共识层</a:t>
            </a:r>
            <a:endParaRPr lang="en-US" altLang="zh-CN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周期采样交换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中位数聚合 → 共识基准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 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BB2BEB29-DB01-9AAF-1B8B-8C5D8EF0C4A7}"/>
              </a:ext>
            </a:extLst>
          </p:cNvPr>
          <p:cNvSpPr/>
          <p:nvPr/>
        </p:nvSpPr>
        <p:spPr>
          <a:xfrm>
            <a:off x="476242" y="3405396"/>
            <a:ext cx="3957637" cy="7094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第一层：本地逻辑时钟层</a:t>
            </a:r>
            <a:endParaRPr lang="en-US" altLang="zh-CN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单调计数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Cᵢ(t) +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线性时钟模型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xmlns="" id="{6EC6709F-9BF2-637C-F3F3-1C0394892C4F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2455061" y="3010209"/>
            <a:ext cx="1" cy="395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xmlns="" id="{4FDA0319-F113-FB07-D6D8-A4BBF2061A1F}"/>
              </a:ext>
            </a:extLst>
          </p:cNvPr>
          <p:cNvCxnSpPr>
            <a:cxnSpLocks/>
          </p:cNvCxnSpPr>
          <p:nvPr/>
        </p:nvCxnSpPr>
        <p:spPr>
          <a:xfrm flipV="1">
            <a:off x="2455059" y="1883678"/>
            <a:ext cx="1" cy="42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">
            <a:extLst>
              <a:ext uri="{FF2B5EF4-FFF2-40B4-BE49-F238E27FC236}">
                <a16:creationId xmlns:a16="http://schemas.microsoft.com/office/drawing/2014/main" xmlns="" id="{E3EFF346-4E0A-BEFC-F08E-FC3797F848DB}"/>
              </a:ext>
            </a:extLst>
          </p:cNvPr>
          <p:cNvSpPr txBox="1"/>
          <p:nvPr/>
        </p:nvSpPr>
        <p:spPr>
          <a:xfrm>
            <a:off x="4638676" y="1047755"/>
            <a:ext cx="4377993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本地逻辑时钟层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000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——</a:t>
            </a:r>
            <a:r>
              <a:rPr lang="zh-CN" altLang="en-US" sz="2000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用于后续软件拟合与校正</a:t>
            </a:r>
            <a:endParaRPr lang="en-US" altLang="zh-CN" sz="2000" dirty="0">
              <a:latin typeface="Century Gothic" pitchFamily="34" charset="0"/>
              <a:ea typeface="微软雅黑" panose="020B0503020204020204" pitchFamily="34" charset="-122"/>
              <a:cs typeface="+mn-ea"/>
            </a:endParaRPr>
          </a:p>
          <a:p>
            <a:pPr>
              <a:defRPr/>
            </a:pPr>
            <a:endParaRPr lang="en-US" altLang="zh-CN" sz="2000" dirty="0">
              <a:latin typeface="Century Gothic" pitchFamily="34" charset="0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zh-CN" dirty="0">
                <a:latin typeface="Cambria Math" panose="02040503050406030204" pitchFamily="18" charset="0"/>
                <a:ea typeface="微软雅黑" panose="020B0503020204020204" pitchFamily="34" charset="-122"/>
              </a:rPr>
              <a:t>作为底层计时基础，节点 </a:t>
            </a:r>
            <a:r>
              <a:rPr lang="en-US" altLang="zh-C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zh-CN" altLang="zh-CN" dirty="0">
                <a:latin typeface="Cambria Math" panose="02040503050406030204" pitchFamily="18" charset="0"/>
                <a:ea typeface="微软雅黑" panose="020B0503020204020204" pitchFamily="34" charset="-122"/>
              </a:rPr>
              <a:t>的本地逻辑时钟记为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Cᵢ(t)</a:t>
            </a:r>
          </a:p>
          <a:p>
            <a:pPr algn="ctr"/>
            <a:endParaRPr lang="zh-CN" altLang="zh-CN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zh-CN" dirty="0">
                <a:latin typeface="Cambria Math" panose="02040503050406030204" pitchFamily="18" charset="0"/>
                <a:ea typeface="微软雅黑" panose="020B0503020204020204" pitchFamily="34" charset="-122"/>
              </a:rPr>
              <a:t>仅提供单调递增计数器，满足严格单调性：</a:t>
            </a:r>
          </a:p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∀ t₁ &lt; t₂, Cᵢ(t₁) &lt; Cᵢ(t₂)</a:t>
            </a:r>
          </a:p>
          <a:p>
            <a:pPr algn="ctr"/>
            <a:endParaRPr lang="zh-CN" altLang="zh-CN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zh-CN" dirty="0">
                <a:latin typeface="Cambria Math" panose="02040503050406030204" pitchFamily="18" charset="0"/>
                <a:ea typeface="微软雅黑" panose="020B0503020204020204" pitchFamily="34" charset="-122"/>
              </a:rPr>
              <a:t>建立线性时钟模型：</a:t>
            </a:r>
          </a:p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Cᵢ(t) = Cᵢ,₀(t) + αᵢ t + βᵢ</a:t>
            </a:r>
          </a:p>
        </p:txBody>
      </p:sp>
    </p:spTree>
    <p:extLst>
      <p:ext uri="{BB962C8B-B14F-4D97-AF65-F5344CB8AC3E}">
        <p14:creationId xmlns:p14="http://schemas.microsoft.com/office/powerpoint/2010/main" val="4012837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D98C035-8E63-9699-9BE2-5005980A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xmlns="" id="{EC4D8F1B-A751-2963-ADF8-BDAE744BFF4F}"/>
              </a:ext>
            </a:extLst>
          </p:cNvPr>
          <p:cNvSpPr/>
          <p:nvPr/>
        </p:nvSpPr>
        <p:spPr>
          <a:xfrm>
            <a:off x="108808" y="21534"/>
            <a:ext cx="89078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03. 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架构与状态机设计</a:t>
            </a:r>
            <a:r>
              <a:rPr lang="en-US" altLang="zh-CN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-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三层模型</a:t>
            </a:r>
            <a:endParaRPr lang="en-US" sz="11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FFC8F05F-1307-938E-A24F-A58A3CE12C44}"/>
              </a:ext>
            </a:extLst>
          </p:cNvPr>
          <p:cNvSpPr/>
          <p:nvPr/>
        </p:nvSpPr>
        <p:spPr>
          <a:xfrm>
            <a:off x="476242" y="1152737"/>
            <a:ext cx="3957637" cy="709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第三层：分布式时钟合成与漂移校正层</a:t>
            </a:r>
            <a:endParaRPr lang="en-US" altLang="zh-CN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双向时延测量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滑动窗口线性回归 → 合成时钟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57D6E3E1-0429-DCDE-AD9E-6D7225983487}"/>
              </a:ext>
            </a:extLst>
          </p:cNvPr>
          <p:cNvSpPr/>
          <p:nvPr/>
        </p:nvSpPr>
        <p:spPr>
          <a:xfrm>
            <a:off x="476243" y="2300802"/>
            <a:ext cx="3957638" cy="7094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第二层：分布式时间共识层</a:t>
            </a:r>
            <a:endParaRPr lang="en-US" altLang="zh-CN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周期采样交换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中位数聚合 → 共识基准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 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47A13B51-4CD2-CA7B-5310-23155EED7762}"/>
              </a:ext>
            </a:extLst>
          </p:cNvPr>
          <p:cNvSpPr/>
          <p:nvPr/>
        </p:nvSpPr>
        <p:spPr>
          <a:xfrm>
            <a:off x="476242" y="3405396"/>
            <a:ext cx="3957637" cy="709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第一层：本地逻辑时钟层</a:t>
            </a:r>
            <a:endParaRPr lang="en-US" altLang="zh-CN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单调计数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Cᵢ(t) +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线性时钟模型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xmlns="" id="{4D3199FA-3CCD-479E-3100-25B4CD5F2B26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2455061" y="3010209"/>
            <a:ext cx="1" cy="395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xmlns="" id="{33D68486-BD62-233E-818A-070F68519656}"/>
              </a:ext>
            </a:extLst>
          </p:cNvPr>
          <p:cNvCxnSpPr>
            <a:cxnSpLocks/>
          </p:cNvCxnSpPr>
          <p:nvPr/>
        </p:nvCxnSpPr>
        <p:spPr>
          <a:xfrm flipV="1">
            <a:off x="2455059" y="1883678"/>
            <a:ext cx="1" cy="42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">
            <a:extLst>
              <a:ext uri="{FF2B5EF4-FFF2-40B4-BE49-F238E27FC236}">
                <a16:creationId xmlns:a16="http://schemas.microsoft.com/office/drawing/2014/main" xmlns="" id="{28575190-1941-64D4-85DB-59285733951C}"/>
              </a:ext>
            </a:extLst>
          </p:cNvPr>
          <p:cNvSpPr txBox="1"/>
          <p:nvPr/>
        </p:nvSpPr>
        <p:spPr>
          <a:xfrm>
            <a:off x="4638676" y="1047755"/>
            <a:ext cx="4378001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分布式时间共识层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000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——</a:t>
            </a:r>
            <a:r>
              <a:rPr lang="zh-CN" altLang="en-US" sz="2000" dirty="0">
                <a:latin typeface="Century Gothic" pitchFamily="34" charset="0"/>
                <a:ea typeface="微软雅黑" panose="020B0503020204020204" pitchFamily="34" charset="-122"/>
                <a:cs typeface="+mn-ea"/>
              </a:rPr>
              <a:t>作为系统核心层，周期性发起全网时间共识</a:t>
            </a:r>
            <a:endParaRPr lang="en-US" altLang="zh-CN" sz="2000" dirty="0">
              <a:latin typeface="Century Gothic" pitchFamily="34" charset="0"/>
              <a:ea typeface="微软雅黑" panose="020B0503020204020204" pitchFamily="34" charset="-122"/>
              <a:cs typeface="+mn-ea"/>
            </a:endParaRPr>
          </a:p>
          <a:p>
            <a:pPr>
              <a:defRPr/>
            </a:pPr>
            <a:endParaRPr lang="en-US" altLang="zh-CN" b="1" dirty="0">
              <a:latin typeface="Century Gothic" pitchFamily="34" charset="0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Cambria Math" panose="020405030504060302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每隔固定周期 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latin typeface="Cambria Math" panose="020405030504060302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，全网节点交换本地时钟采样值</a:t>
            </a:r>
            <a:endParaRPr lang="en-US" altLang="zh-CN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zh-CN" altLang="en-US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Cambria Math" panose="020405030504060302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采用中位数聚合函数，对采样值排序并取中位数，生成本轮共识时间基准 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Tc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Cambria Math" panose="020405030504060302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中位数机制可过滤异常值，容忍少于 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n/3 </a:t>
            </a:r>
            <a:r>
              <a:rPr lang="zh-CN" altLang="en-US" dirty="0">
                <a:latin typeface="Cambria Math" panose="020405030504060302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的故障节点，保证共识安全与稳定</a:t>
            </a:r>
          </a:p>
        </p:txBody>
      </p:sp>
    </p:spTree>
    <p:extLst>
      <p:ext uri="{BB962C8B-B14F-4D97-AF65-F5344CB8AC3E}">
        <p14:creationId xmlns:p14="http://schemas.microsoft.com/office/powerpoint/2010/main" val="1858045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6A285B-D0BD-9AAE-0F38-2BB2E79D8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xmlns="" id="{17CE609F-89A2-F839-0415-697A4C7D27D3}"/>
              </a:ext>
            </a:extLst>
          </p:cNvPr>
          <p:cNvSpPr/>
          <p:nvPr/>
        </p:nvSpPr>
        <p:spPr>
          <a:xfrm>
            <a:off x="108808" y="21534"/>
            <a:ext cx="89078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03. 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架构与状态机设计</a:t>
            </a:r>
            <a:r>
              <a:rPr lang="en-US" altLang="zh-CN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-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三层模型</a:t>
            </a:r>
            <a:endParaRPr lang="en-US" sz="11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C5AAD80E-088D-DAC2-07ED-6C6AFB7C03EC}"/>
              </a:ext>
            </a:extLst>
          </p:cNvPr>
          <p:cNvSpPr/>
          <p:nvPr/>
        </p:nvSpPr>
        <p:spPr>
          <a:xfrm>
            <a:off x="476242" y="1152737"/>
            <a:ext cx="3957637" cy="7094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第三层：分布式时钟合成与漂移校正层</a:t>
            </a:r>
            <a:endParaRPr lang="en-US" altLang="zh-CN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双向时延测量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滑动窗口线性回归 → 合成时钟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6AD8C381-79ED-BA9C-952E-949FC8F166C7}"/>
              </a:ext>
            </a:extLst>
          </p:cNvPr>
          <p:cNvSpPr/>
          <p:nvPr/>
        </p:nvSpPr>
        <p:spPr>
          <a:xfrm>
            <a:off x="476243" y="2300802"/>
            <a:ext cx="3957638" cy="709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第二层：分布式时间共识层</a:t>
            </a:r>
            <a:endParaRPr lang="en-US" altLang="zh-CN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周期采样交换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中位数聚合 → 共识基准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 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7C6F5045-811D-4A30-298F-283D1593F130}"/>
              </a:ext>
            </a:extLst>
          </p:cNvPr>
          <p:cNvSpPr/>
          <p:nvPr/>
        </p:nvSpPr>
        <p:spPr>
          <a:xfrm>
            <a:off x="476242" y="3405396"/>
            <a:ext cx="3957637" cy="709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第一层：本地逻辑时钟层</a:t>
            </a:r>
            <a:endParaRPr lang="en-US" altLang="zh-CN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单调计数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Cᵢ(t) +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线性时钟模型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xmlns="" id="{2B72B35E-8503-D3AF-4156-B38D2E74290B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2455061" y="3010209"/>
            <a:ext cx="1" cy="395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xmlns="" id="{4E38319C-4AAB-191C-33C3-9689D580265C}"/>
              </a:ext>
            </a:extLst>
          </p:cNvPr>
          <p:cNvCxnSpPr>
            <a:cxnSpLocks/>
          </p:cNvCxnSpPr>
          <p:nvPr/>
        </p:nvCxnSpPr>
        <p:spPr>
          <a:xfrm flipV="1">
            <a:off x="2455059" y="1883678"/>
            <a:ext cx="1" cy="428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">
                <a:extLst>
                  <a:ext uri="{FF2B5EF4-FFF2-40B4-BE49-F238E27FC236}">
                    <a16:creationId xmlns:a16="http://schemas.microsoft.com/office/drawing/2014/main" xmlns="" id="{6048C291-98D2-4A9C-64FD-FB3357786A3C}"/>
                  </a:ext>
                </a:extLst>
              </p:cNvPr>
              <p:cNvSpPr txBox="1"/>
              <p:nvPr/>
            </p:nvSpPr>
            <p:spPr>
              <a:xfrm>
                <a:off x="4638676" y="1043380"/>
                <a:ext cx="4378001" cy="39011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分布式时钟合成与漂移校正层</a:t>
                </a:r>
                <a:endPara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defRPr/>
                </a:pPr>
                <a:r>
                  <a:rPr lang="en-US" altLang="zh-CN" sz="2000" dirty="0">
                    <a:latin typeface="Century Gothic" pitchFamily="34" charset="0"/>
                    <a:ea typeface="微软雅黑" panose="020B0503020204020204" pitchFamily="34" charset="-122"/>
                    <a:cs typeface="+mn-ea"/>
                  </a:rPr>
                  <a:t>——</a:t>
                </a:r>
                <a:r>
                  <a:rPr lang="zh-CN" altLang="en-US" sz="2000" dirty="0">
                    <a:latin typeface="Century Gothic" pitchFamily="34" charset="0"/>
                    <a:ea typeface="微软雅黑" panose="020B0503020204020204" pitchFamily="34" charset="-122"/>
                    <a:cs typeface="+mn-ea"/>
                  </a:rPr>
                  <a:t>基于双向时延测量与滑动窗口线性回归实现漂移抑制</a:t>
                </a:r>
              </a:p>
              <a:p>
                <a:pPr>
                  <a:defRPr/>
                </a:pPr>
                <a:endParaRPr lang="en-US" altLang="zh-CN" sz="2400" b="1" dirty="0">
                  <a:latin typeface="Century Gothic" pitchFamily="34" charset="0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通过请求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</a:t>
                </a:r>
                <a:r>
                  <a:rPr lang="zh-CN" altLang="en-US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响应报文获取时间戳 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T₀, T₁, T₂, T₃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计算往返时延 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RTT </a:t>
                </a:r>
                <a:r>
                  <a:rPr lang="zh-CN" altLang="en-US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与观测偏移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>
                                <a:latin typeface="Cambria Math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θ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对多轮偏移做滑动窗口线性回归，估计漂移率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l-GR" altLang="zh-CN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与偏移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 smtClean="0">
                                <a:latin typeface="Cambria Math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zh-CN" altLang="en-US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θ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生成合成时钟</a:t>
                </a:r>
                <a:r>
                  <a:rPr lang="en-US" altLang="zh-CN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Tsyn,i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(t) </a:t>
                </a:r>
                <a:endParaRPr lang="zh-CN" altLang="en-US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TextBox 2">
                <a:extLst>
                  <a:ext uri="{FF2B5EF4-FFF2-40B4-BE49-F238E27FC236}">
                    <a16:creationId xmlns:a16="http://schemas.microsoft.com/office/drawing/2014/main" id="{6048C291-98D2-4A9C-64FD-FB3357786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676" y="1043380"/>
                <a:ext cx="4378001" cy="3901196"/>
              </a:xfrm>
              <a:prstGeom prst="rect">
                <a:avLst/>
              </a:prstGeom>
              <a:blipFill>
                <a:blip r:embed="rId2"/>
                <a:stretch>
                  <a:fillRect l="-1532" t="-781" r="-975" b="-1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595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0FC763-D5C6-1A0F-9AA0-4C973265F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xmlns="" id="{E892A44E-5F0D-8278-41C5-7F54E59D2075}"/>
              </a:ext>
            </a:extLst>
          </p:cNvPr>
          <p:cNvSpPr/>
          <p:nvPr/>
        </p:nvSpPr>
        <p:spPr>
          <a:xfrm>
            <a:off x="108808" y="21534"/>
            <a:ext cx="89078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03. 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架构与状态机设计</a:t>
            </a:r>
            <a:r>
              <a:rPr lang="en-US" altLang="zh-CN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-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七步流程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9601FC9-7BF6-DBFB-C4D3-4361A4F22E1F}"/>
              </a:ext>
            </a:extLst>
          </p:cNvPr>
          <p:cNvSpPr txBox="1"/>
          <p:nvPr/>
        </p:nvSpPr>
        <p:spPr>
          <a:xfrm>
            <a:off x="285749" y="613492"/>
            <a:ext cx="8486775" cy="4058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S1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：系统初始化</a:t>
            </a:r>
            <a:endParaRPr lang="en-US" altLang="zh-CN" sz="2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搭建物理隔离环境，部署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 ≥ 3f+1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个节点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禁用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NTP /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Chrony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等外部时间同步服务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强制使用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CLOCK_MONOTONIC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单调时钟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所有节点进入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Init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，完成配置后进入同步准备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S2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：采样收集</a:t>
            </a:r>
            <a:endParaRPr lang="en-US" altLang="zh-CN" sz="2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lvl="0" indent="-457200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同步周期到达（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TimerTick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</a:p>
          <a:p>
            <a:pPr marL="457200" lvl="0" indent="-457200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各节点向其余节点发送时间查询报文，记录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T₀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lvl="0" indent="-457200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接收对端响应，记录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T₁, T₂, T₃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lvl="0" indent="-457200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构建本轮观测样本集合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9490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BB22BE-74EF-B4BA-A807-29BAA318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xmlns="" id="{58120A05-2678-A7F5-3615-5CC3DB00AE67}"/>
              </a:ext>
            </a:extLst>
          </p:cNvPr>
          <p:cNvSpPr/>
          <p:nvPr/>
        </p:nvSpPr>
        <p:spPr>
          <a:xfrm>
            <a:off x="108808" y="21534"/>
            <a:ext cx="89078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03. 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架构与状态机设计</a:t>
            </a:r>
            <a:r>
              <a:rPr lang="en-US" altLang="zh-CN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-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七步流程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7F1C3DF1-599C-3047-F42C-6D77C99F7FEF}"/>
                  </a:ext>
                </a:extLst>
              </p:cNvPr>
              <p:cNvSpPr txBox="1"/>
              <p:nvPr/>
            </p:nvSpPr>
            <p:spPr>
              <a:xfrm>
                <a:off x="285749" y="613492"/>
                <a:ext cx="8486775" cy="415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S3</a:t>
                </a:r>
                <a:r>
                  <a:rPr lang="zh-CN" altLang="en-US" sz="24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：时间共识计算</a:t>
                </a:r>
                <a:endParaRPr lang="en-US" altLang="zh-CN" sz="2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457200" indent="-457200">
                  <a:lnSpc>
                    <a:spcPct val="125000"/>
                  </a:lnSpc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对全网节点采样值排序</a:t>
                </a:r>
              </a:p>
              <a:p>
                <a:pPr marL="457200" indent="-457200">
                  <a:lnSpc>
                    <a:spcPct val="125000"/>
                  </a:lnSpc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取中位数作为本轮共识时间基准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Tc</a:t>
                </a:r>
              </a:p>
              <a:p>
                <a:pPr marL="457200" indent="-457200">
                  <a:lnSpc>
                    <a:spcPct val="125000"/>
                  </a:lnSpc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形成全网统一虚拟时间参考</a:t>
                </a:r>
              </a:p>
              <a:p>
                <a:pPr marL="457200" indent="-4572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S4</a:t>
                </a:r>
                <a:r>
                  <a:rPr lang="zh-CN" altLang="en-US" sz="24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：漂移与偏移估计</a:t>
                </a:r>
                <a:endParaRPr lang="en-US" altLang="zh-CN" sz="2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457200" lvl="0" indent="-457200">
                  <a:lnSpc>
                    <a:spcPct val="125000"/>
                  </a:lnSpc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基于双向时延测量计算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RTT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与观测偏移</a:t>
                </a:r>
              </a:p>
              <a:p>
                <a:pPr marL="457200" lvl="0" indent="-457200">
                  <a:lnSpc>
                    <a:spcPct val="125000"/>
                  </a:lnSpc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滑动窗口线性回归拟合，得到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l-GR" altLang="zh-CN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2000" i="1">
                                <a:latin typeface="Cambria Math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zh-CN" altLang="en-US" sz="20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θ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457200" indent="-4572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S5</a:t>
                </a:r>
                <a:r>
                  <a:rPr lang="zh-CN" altLang="en-US" sz="24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：合成时钟输出</a:t>
                </a:r>
                <a:endParaRPr lang="en-US" altLang="zh-CN" sz="2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457200" lvl="0" indent="-457200">
                  <a:lnSpc>
                    <a:spcPct val="125000"/>
                  </a:lnSpc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根据本地逻辑时钟、偏移估计、漂移率估计，计算并输出</a:t>
                </a:r>
                <a:r>
                  <a:rPr lang="en-US" altLang="zh-CN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Tsyn,i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(t)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，要求全网统一、单调递增、稳定收敛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1C3DF1-599C-3047-F42C-6D77C99F7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49" y="613492"/>
                <a:ext cx="8486775" cy="4151457"/>
              </a:xfrm>
              <a:prstGeom prst="rect">
                <a:avLst/>
              </a:prstGeom>
              <a:blipFill>
                <a:blip r:embed="rId2"/>
                <a:stretch>
                  <a:fillRect l="-1006" r="-216" b="-1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717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1A7F186-F2C4-C3B1-C6B9-CEF59AE06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xmlns="" id="{9EBF2B9B-9C18-A1D0-F7D9-2C6906FC7003}"/>
              </a:ext>
            </a:extLst>
          </p:cNvPr>
          <p:cNvSpPr/>
          <p:nvPr/>
        </p:nvSpPr>
        <p:spPr>
          <a:xfrm>
            <a:off x="108808" y="21534"/>
            <a:ext cx="89078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03. 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架构与状态机设计</a:t>
            </a:r>
            <a:r>
              <a:rPr lang="en-US" altLang="zh-CN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-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七步流程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B89D969-7B34-F85B-9C0C-C9A6764804B7}"/>
              </a:ext>
            </a:extLst>
          </p:cNvPr>
          <p:cNvSpPr txBox="1"/>
          <p:nvPr/>
        </p:nvSpPr>
        <p:spPr>
          <a:xfrm>
            <a:off x="285749" y="613492"/>
            <a:ext cx="8486775" cy="290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S6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：闭环同步维护</a:t>
            </a:r>
            <a:endParaRPr lang="en-US" altLang="zh-CN" sz="2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按固定周期重复执行：采样 → 共识 → 估计 → 校正</a:t>
            </a: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持续抑制漂移，将硬件原始漂移闭环抑制到 ≤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0.1 ppm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S7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：故障容错与恢复</a:t>
            </a:r>
            <a:endParaRPr lang="en-US" altLang="zh-CN" sz="2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lvl="0" indent="-457200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支持节点故障检测、网络中断识别</a:t>
            </a:r>
          </a:p>
          <a:p>
            <a:pPr marL="457200" lvl="0" indent="-457200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故障恢复后自动重新对齐同步周期</a:t>
            </a:r>
          </a:p>
          <a:p>
            <a:pPr marL="457200" lvl="0" indent="-457200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快速重入同步（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Recovering →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SyncWait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/ Collecting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31546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A1FE71-BBE2-617A-A618-3F5BF36B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xmlns="" id="{39F8603E-0364-2641-C403-A7C7C85F2D1E}"/>
              </a:ext>
            </a:extLst>
          </p:cNvPr>
          <p:cNvSpPr/>
          <p:nvPr/>
        </p:nvSpPr>
        <p:spPr>
          <a:xfrm>
            <a:off x="108808" y="21534"/>
            <a:ext cx="89078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03. 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架构与状态机设计</a:t>
            </a:r>
            <a:r>
              <a:rPr lang="en-US" altLang="zh-CN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-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节点有限状态机</a:t>
            </a:r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xmlns="" id="{C1A25588-67D2-401B-C084-AD8B11C860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7181464"/>
                  </p:ext>
                </p:extLst>
              </p:nvPr>
            </p:nvGraphicFramePr>
            <p:xfrm>
              <a:off x="897998" y="882967"/>
              <a:ext cx="7329489" cy="38842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3163">
                      <a:extLst>
                        <a:ext uri="{9D8B030D-6E8A-4147-A177-3AD203B41FA5}">
                          <a16:colId xmlns:a16="http://schemas.microsoft.com/office/drawing/2014/main" xmlns="" val="542495200"/>
                        </a:ext>
                      </a:extLst>
                    </a:gridCol>
                    <a:gridCol w="2185988">
                      <a:extLst>
                        <a:ext uri="{9D8B030D-6E8A-4147-A177-3AD203B41FA5}">
                          <a16:colId xmlns:a16="http://schemas.microsoft.com/office/drawing/2014/main" xmlns="" val="680821810"/>
                        </a:ext>
                      </a:extLst>
                    </a:gridCol>
                    <a:gridCol w="2700338">
                      <a:extLst>
                        <a:ext uri="{9D8B030D-6E8A-4147-A177-3AD203B41FA5}">
                          <a16:colId xmlns:a16="http://schemas.microsoft.com/office/drawing/2014/main" xmlns="" val="2634304115"/>
                        </a:ext>
                      </a:extLst>
                    </a:gridCol>
                  </a:tblGrid>
                  <a:tr h="383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状态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英文名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说明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3646142302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初始化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Init</a:t>
                          </a:r>
                          <a:endParaRPr lang="zh-CN" sz="14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启动、参数加载、时钟源绑定</a:t>
                          </a: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="" val="1418589272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同步等待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dirty="0" err="1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SyncWait</a:t>
                          </a:r>
                          <a:endParaRPr lang="zh-CN" sz="14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等待同步周期</a:t>
                          </a:r>
                          <a:r>
                            <a:rPr lang="en-US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 / </a:t>
                          </a: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对齐全局节拍</a:t>
                          </a: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="" val="2790466368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采样收集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Collecting</a:t>
                          </a:r>
                          <a:endParaRPr lang="zh-CN" sz="14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收发时间查询，构建观测样本</a:t>
                          </a: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="" val="2097238501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共识计算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Consensus</a:t>
                          </a:r>
                          <a:endParaRPr lang="zh-CN" sz="14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中位数聚合，生成 </a:t>
                          </a:r>
                          <a:r>
                            <a:rPr lang="en-US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Tc</a:t>
                          </a:r>
                          <a:endParaRPr lang="zh-CN" sz="14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="" val="3547737936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漂移估计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Estimating</a:t>
                          </a:r>
                          <a:endParaRPr lang="zh-CN" sz="14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滑动窗口回归，更新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l-GR" altLang="zh-CN" sz="14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l-GR" altLang="zh-CN" sz="1400" i="1"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ea"/>
                            </a:rPr>
                            <a:t> </a:t>
                          </a:r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ea"/>
                            </a:rPr>
                            <a:t>与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en-US" sz="1400" i="1">
                                          <a:latin typeface="Cambria Math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140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θ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oMath>
                          </a14:m>
                          <a:endParaRPr lang="zh-CN" sz="14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="" val="4249936620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正常运行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Running</a:t>
                          </a:r>
                          <a:endParaRPr lang="zh-CN" sz="14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输出合成时钟，维持闭环</a:t>
                          </a: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="" val="47646831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故障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Fault</a:t>
                          </a:r>
                          <a:endParaRPr lang="zh-CN" sz="14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检测到节点</a:t>
                          </a:r>
                          <a:r>
                            <a:rPr lang="en-US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/</a:t>
                          </a: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网络异常</a:t>
                          </a: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="" val="2120181544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故障恢复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Recovering</a:t>
                          </a:r>
                          <a:endParaRPr lang="zh-CN" sz="14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重新对齐周期，准备重入同步</a:t>
                          </a: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="" val="2064843744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停止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Stopped</a:t>
                          </a:r>
                          <a:endParaRPr lang="zh-CN" sz="14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主动停止或不可恢复退出</a:t>
                          </a: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="" val="19674579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1A25588-67D2-401B-C084-AD8B11C860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7181464"/>
                  </p:ext>
                </p:extLst>
              </p:nvPr>
            </p:nvGraphicFramePr>
            <p:xfrm>
              <a:off x="897998" y="882967"/>
              <a:ext cx="7329489" cy="38842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316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542495200"/>
                        </a:ext>
                      </a:extLst>
                    </a:gridCol>
                    <a:gridCol w="218598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680821810"/>
                        </a:ext>
                      </a:extLst>
                    </a:gridCol>
                    <a:gridCol w="270033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34304115"/>
                        </a:ext>
                      </a:extLst>
                    </a:gridCol>
                  </a:tblGrid>
                  <a:tr h="383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状态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英文名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说明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646142302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初始化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Init</a:t>
                          </a:r>
                          <a:endParaRPr lang="zh-CN" sz="14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启动、参数加载、时钟源绑定</a:t>
                          </a: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418589272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同步等待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dirty="0" err="1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SyncWait</a:t>
                          </a:r>
                          <a:endParaRPr lang="zh-CN" sz="14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等待同步周期</a:t>
                          </a:r>
                          <a:r>
                            <a:rPr lang="en-US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 / </a:t>
                          </a: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对齐全局节拍</a:t>
                          </a: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90466368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采样收集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Collecting</a:t>
                          </a:r>
                          <a:endParaRPr lang="zh-CN" sz="14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收发时间查询，构建观测样本</a:t>
                          </a: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097238501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共识计算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Consensus</a:t>
                          </a:r>
                          <a:endParaRPr lang="zh-CN" sz="14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中位数聚合，生成 </a:t>
                          </a:r>
                          <a:r>
                            <a:rPr lang="en-US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Tc</a:t>
                          </a:r>
                          <a:endParaRPr lang="zh-CN" sz="1400" dirty="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47737936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漂移估计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Estimating</a:t>
                          </a:r>
                          <a:endParaRPr lang="zh-CN" sz="14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1600" marR="101600" marT="76200" marB="76200" anchor="ctr">
                        <a:blipFill rotWithShape="1">
                          <a:blip r:embed="rId2"/>
                          <a:stretch>
                            <a:fillRect l="-171558" t="-498438" b="-40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249936620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正常运行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Running</a:t>
                          </a:r>
                          <a:endParaRPr lang="zh-CN" sz="14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输出合成时钟，维持闭环</a:t>
                          </a: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7646831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故障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Fault</a:t>
                          </a:r>
                          <a:endParaRPr lang="zh-CN" sz="14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检测到节点</a:t>
                          </a:r>
                          <a:r>
                            <a:rPr lang="en-US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/</a:t>
                          </a: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网络异常</a:t>
                          </a: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20181544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故障恢复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Recovering</a:t>
                          </a:r>
                          <a:endParaRPr lang="zh-CN" sz="14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重新对齐周期，准备重入同步</a:t>
                          </a: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064843744"/>
                      </a:ext>
                    </a:extLst>
                  </a:tr>
                  <a:tr h="388962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停止</a:t>
                          </a: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Stopped</a:t>
                          </a:r>
                          <a:endParaRPr lang="zh-CN" sz="1400"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endParaRPr>
                        </a:p>
                      </a:txBody>
                      <a:tcPr marL="101600" marR="10160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8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zh-CN" sz="1400" dirty="0"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宋体" panose="02010600030101010101" pitchFamily="2" charset="-122"/>
                            </a:rPr>
                            <a:t>主动停止或不可恢复退出</a:t>
                          </a:r>
                        </a:p>
                      </a:txBody>
                      <a:tcPr marL="101600" marR="1016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674579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43199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AE87E2-9B9E-0D1B-4A89-5CF5A8DC4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xmlns="" id="{A55F9F38-701D-734A-C36C-3570E013CA1B}"/>
              </a:ext>
            </a:extLst>
          </p:cNvPr>
          <p:cNvSpPr/>
          <p:nvPr/>
        </p:nvSpPr>
        <p:spPr>
          <a:xfrm>
            <a:off x="108808" y="21534"/>
            <a:ext cx="89078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03. 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架构与状态机设计</a:t>
            </a:r>
            <a:r>
              <a:rPr lang="en-US" altLang="zh-CN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-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节点有限状态机</a:t>
            </a:r>
            <a:endParaRPr lang="en-US" sz="11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7110F89C-E3E7-0FCA-CBC1-5D67C6CEC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508293"/>
              </p:ext>
            </p:extLst>
          </p:nvPr>
        </p:nvGraphicFramePr>
        <p:xfrm>
          <a:off x="333375" y="1312171"/>
          <a:ext cx="3933825" cy="1939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697">
                  <a:extLst>
                    <a:ext uri="{9D8B030D-6E8A-4147-A177-3AD203B41FA5}">
                      <a16:colId xmlns:a16="http://schemas.microsoft.com/office/drawing/2014/main" xmlns="" val="542495200"/>
                    </a:ext>
                  </a:extLst>
                </a:gridCol>
                <a:gridCol w="2344128">
                  <a:extLst>
                    <a:ext uri="{9D8B030D-6E8A-4147-A177-3AD203B41FA5}">
                      <a16:colId xmlns:a16="http://schemas.microsoft.com/office/drawing/2014/main" xmlns="" val="680821810"/>
                    </a:ext>
                  </a:extLst>
                </a:gridCol>
              </a:tblGrid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事件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646142302"/>
                  </a:ext>
                </a:extLst>
              </a:tr>
              <a:tr h="388962">
                <a:tc>
                  <a:txBody>
                    <a:bodyPr/>
                    <a:lstStyle/>
                    <a:p>
                      <a:pPr algn="ctr"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TimerTick</a:t>
                      </a:r>
                      <a:endParaRPr 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同步周期定时器触发</a:t>
                      </a:r>
                    </a:p>
                  </a:txBody>
                  <a:tcPr marL="101600" marR="101600" marT="76200" marB="76200"/>
                </a:tc>
                <a:extLst>
                  <a:ext uri="{0D108BD9-81ED-4DB2-BD59-A6C34878D82A}">
                    <a16:rowId xmlns:a16="http://schemas.microsoft.com/office/drawing/2014/main" xmlns="" val="1418589272"/>
                  </a:ext>
                </a:extLst>
              </a:tr>
              <a:tr h="388962">
                <a:tc>
                  <a:txBody>
                    <a:bodyPr/>
                    <a:lstStyle/>
                    <a:p>
                      <a:pPr algn="ctr"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CollectDone</a:t>
                      </a:r>
                      <a:endParaRPr 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本轮采样收集完成</a:t>
                      </a:r>
                    </a:p>
                  </a:txBody>
                  <a:tcPr marL="101600" marR="101600" marT="76200" marB="76200"/>
                </a:tc>
                <a:extLst>
                  <a:ext uri="{0D108BD9-81ED-4DB2-BD59-A6C34878D82A}">
                    <a16:rowId xmlns:a16="http://schemas.microsoft.com/office/drawing/2014/main" xmlns="" val="2790466368"/>
                  </a:ext>
                </a:extLst>
              </a:tr>
              <a:tr h="388962">
                <a:tc>
                  <a:txBody>
                    <a:bodyPr/>
                    <a:lstStyle/>
                    <a:p>
                      <a:pPr algn="ctr"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ConsensusDone</a:t>
                      </a:r>
                      <a:endParaRPr 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共识计算完成</a:t>
                      </a:r>
                    </a:p>
                  </a:txBody>
                  <a:tcPr marL="101600" marR="101600" marT="76200" marB="76200"/>
                </a:tc>
                <a:extLst>
                  <a:ext uri="{0D108BD9-81ED-4DB2-BD59-A6C34878D82A}">
                    <a16:rowId xmlns:a16="http://schemas.microsoft.com/office/drawing/2014/main" xmlns="" val="2097238501"/>
                  </a:ext>
                </a:extLst>
              </a:tr>
              <a:tr h="388962">
                <a:tc>
                  <a:txBody>
                    <a:bodyPr/>
                    <a:lstStyle/>
                    <a:p>
                      <a:pPr algn="ctr"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FaultDetect</a:t>
                      </a:r>
                      <a:endParaRPr 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故障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网络中断检出</a:t>
                      </a:r>
                    </a:p>
                  </a:txBody>
                  <a:tcPr marL="101600" marR="101600" marT="76200" marB="76200"/>
                </a:tc>
                <a:extLst>
                  <a:ext uri="{0D108BD9-81ED-4DB2-BD59-A6C34878D82A}">
                    <a16:rowId xmlns:a16="http://schemas.microsoft.com/office/drawing/2014/main" xmlns="" val="3547737936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C93F2751-7FF6-C7D1-F361-0B0BC3456AC1}"/>
              </a:ext>
            </a:extLst>
          </p:cNvPr>
          <p:cNvSpPr txBox="1"/>
          <p:nvPr/>
        </p:nvSpPr>
        <p:spPr>
          <a:xfrm>
            <a:off x="4524375" y="1117744"/>
            <a:ext cx="4205287" cy="369331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342900" marR="829945" indent="-342900">
              <a:buFont typeface="Wingdings" panose="05000000000000000000" pitchFamily="2" charset="2"/>
              <a:buChar char="Ø"/>
            </a:pPr>
            <a:r>
              <a:rPr lang="zh-CN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典型状态转移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示意</a:t>
            </a:r>
            <a:endParaRPr lang="en-US" altLang="zh-CN" sz="2400" b="1" dirty="0">
              <a:solidFill>
                <a:schemeClr val="accent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Init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→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SyncWait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→ Collecting          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TimerTick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→ Consensus         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CollectDone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→ Estimating         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ConsensusDone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→ Running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Collecting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…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     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周期闭环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Running / Collecting / …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→ Fault                   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FaultDetect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→ Recovering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→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SyncWait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/ Collecting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任意运行态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R="829945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→ Stopped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1771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C1DAA0-98ED-3CEE-3480-553B9A123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xmlns="" id="{145C63DD-D308-9B61-E670-66378566BD26}"/>
              </a:ext>
            </a:extLst>
          </p:cNvPr>
          <p:cNvSpPr/>
          <p:nvPr/>
        </p:nvSpPr>
        <p:spPr>
          <a:xfrm>
            <a:off x="108808" y="21534"/>
            <a:ext cx="89078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i="0" u="none" strike="noStrike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03. 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架构与状态机设计</a:t>
            </a:r>
            <a:r>
              <a:rPr lang="en-US" altLang="zh-CN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-</a:t>
            </a:r>
            <a:r>
              <a:rPr lang="zh-CN" altLang="en-US" sz="3200" b="1" dirty="0">
                <a:latin typeface="Noto Sans SC"/>
                <a:ea typeface="Noto Sans SC"/>
                <a:cs typeface="Times New Roman" panose="02020603050405020304" pitchFamily="18" charset="0"/>
                <a:sym typeface="Noto Sans SC"/>
              </a:rPr>
              <a:t>核心算法与公式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C59DC71A-91C7-40ED-730B-05B07C9AB66C}"/>
                  </a:ext>
                </a:extLst>
              </p:cNvPr>
              <p:cNvSpPr txBox="1"/>
              <p:nvPr/>
            </p:nvSpPr>
            <p:spPr>
              <a:xfrm>
                <a:off x="285749" y="613492"/>
                <a:ext cx="8486775" cy="4157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双向时延测量</a:t>
                </a:r>
                <a:endParaRPr lang="en-US" altLang="zh-CN" sz="2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algn="ctr">
                  <a:lnSpc>
                    <a:spcPct val="125000"/>
                  </a:lnSpc>
                  <a:defRPr/>
                </a:pPr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ea"/>
                  </a:rPr>
                  <a:t>RTT = (T₃ - T₀) - (T₂ - T₁)</a:t>
                </a:r>
              </a:p>
              <a:p>
                <a:pPr algn="ctr">
                  <a:lnSpc>
                    <a:spcPct val="125000"/>
                  </a:lnSpc>
                  <a:defRPr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000" i="1"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zh-CN" altLang="en-US" sz="20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θ</m:t>
                        </m:r>
                      </m:e>
                    </m:acc>
                    <m:r>
                      <a:rPr lang="zh-CN" altLang="en-US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el-GR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ea"/>
                  </a:rPr>
                  <a:t>= ((</a:t>
                </a:r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ea"/>
                  </a:rPr>
                  <a:t>T₁ - T₀) + (T₂ - T₃))/2</a:t>
                </a:r>
              </a:p>
              <a:p>
                <a:pPr marL="457200" indent="-4572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中位数共识</a:t>
                </a:r>
                <a:endParaRPr lang="en-US" altLang="zh-CN" sz="2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algn="ctr">
                  <a:lnSpc>
                    <a:spcPct val="125000"/>
                  </a:lnSpc>
                  <a:defRPr/>
                </a:pPr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Tc = median({s₁, s₂, …, sₙ})</a:t>
                </a:r>
                <a:endParaRPr lang="zh-CN" altLang="zh-CN" sz="2000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滑动窗口线性回归（漂移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/</a:t>
                </a:r>
                <a:r>
                  <a:rPr lang="zh-CN" altLang="en-US" sz="24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偏移估计）</a:t>
                </a:r>
                <a:endParaRPr lang="en-US" altLang="zh-CN" sz="2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algn="ctr">
                  <a:lnSpc>
                    <a:spcPct val="125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2000" i="1">
                                <a:latin typeface="Cambria Math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zh-CN" altLang="en-US" sz="20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θ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≈ 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000" i="1"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zh-CN" altLang="en-US" sz="20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α</m:t>
                        </m:r>
                      </m:e>
                    </m:acc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tₖ +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000" i="1"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zh-CN" altLang="en-US" sz="20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β</m:t>
                        </m:r>
                      </m:e>
                    </m:acc>
                  </m:oMath>
                </a14:m>
                <a:endParaRPr lang="en-US" altLang="zh-CN" sz="2000" b="1" dirty="0">
                  <a:solidFill>
                    <a:schemeClr val="accent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通过最小二乘拟合得到：漂移率估计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l-GR" altLang="zh-CN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、</a:t>
                </a: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偏移估计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2000" i="1">
                                <a:latin typeface="Cambria Math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zh-CN" altLang="en-US" sz="20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θ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5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合成时钟输出</a:t>
                </a:r>
              </a:p>
              <a:p>
                <a:pPr algn="ctr"/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Tsyn,i(t) = Cᵢ(t)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2000" i="1">
                                <a:latin typeface="Cambria Math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zh-CN" altLang="en-US" sz="20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θ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l-GR" altLang="zh-CN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Δ 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9DC71A-91C7-40ED-730B-05B07C9AB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49" y="613492"/>
                <a:ext cx="8486775" cy="4157100"/>
              </a:xfrm>
              <a:prstGeom prst="rect">
                <a:avLst/>
              </a:prstGeom>
              <a:blipFill>
                <a:blip r:embed="rId2"/>
                <a:stretch>
                  <a:fillRect l="-1006" b="-16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404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3609975" y="342901"/>
            <a:ext cx="23336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000" dirty="0">
                <a:latin typeface="华文琥珀" pitchFamily="2" charset="-122"/>
                <a:ea typeface="华文琥珀" pitchFamily="2" charset="-122"/>
              </a:rPr>
              <a:t>目  录</a:t>
            </a:r>
          </a:p>
        </p:txBody>
      </p:sp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928687" y="1357412"/>
            <a:ext cx="7324061" cy="2769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01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引入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02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：基础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原理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03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：架构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与状态机设计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04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：开发工具和使用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05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：成果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和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代码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3741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50" y="323850"/>
            <a:ext cx="5072063" cy="58105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四、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Cursor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基本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功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能介绍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</p:txBody>
      </p:sp>
      <p:sp>
        <p:nvSpPr>
          <p:cNvPr id="5" name="AutoShape 6"/>
          <p:cNvSpPr/>
          <p:nvPr/>
        </p:nvSpPr>
        <p:spPr>
          <a:xfrm>
            <a:off x="374650" y="990600"/>
            <a:ext cx="8128000" cy="8286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dirty="0">
                <a:latin typeface="Noto Sans SC"/>
                <a:ea typeface="Noto Sans SC"/>
                <a:cs typeface="Noto Sans SC"/>
                <a:sym typeface="Noto Sans SC"/>
              </a:rPr>
              <a:t>Cursor </a:t>
            </a:r>
            <a:r>
              <a:rPr lang="en-US" sz="1600" dirty="0" err="1">
                <a:latin typeface="Noto Sans SC"/>
                <a:ea typeface="Noto Sans SC"/>
                <a:cs typeface="Noto Sans SC"/>
                <a:sym typeface="Noto Sans SC"/>
              </a:rPr>
              <a:t>是一款内置</a:t>
            </a:r>
            <a:r>
              <a:rPr lang="en-US" sz="1600" dirty="0">
                <a:latin typeface="Noto Sans SC"/>
                <a:ea typeface="Noto Sans SC"/>
                <a:cs typeface="Noto Sans SC"/>
                <a:sym typeface="Noto Sans SC"/>
              </a:rPr>
              <a:t> AI 的</a:t>
            </a:r>
            <a:r>
              <a:rPr lang="en-US" sz="1600" b="1" dirty="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代码编辑器</a:t>
            </a:r>
            <a:r>
              <a:rPr lang="en-US" sz="1600" dirty="0">
                <a:latin typeface="Noto Sans SC"/>
                <a:ea typeface="Noto Sans SC"/>
                <a:cs typeface="Noto Sans SC"/>
                <a:sym typeface="Noto Sans SC"/>
              </a:rPr>
              <a:t>,它能够理解你的代码和意图,帮助你更快、更好地编写软件。它不仅是一个编辑器,更是一个</a:t>
            </a:r>
            <a:r>
              <a:rPr lang="en-US" sz="1600" b="1" dirty="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智能的编程伙伴</a:t>
            </a:r>
            <a:r>
              <a:rPr lang="en-US" sz="1600" dirty="0" smtClean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altLang="zh-CN" sz="1600" dirty="0" smtClean="0">
                <a:latin typeface="Noto Sans SC"/>
                <a:ea typeface="Noto Sans SC"/>
                <a:cs typeface="Noto Sans SC"/>
                <a:sym typeface="Noto Sans SC"/>
              </a:rPr>
              <a:t>www.cursor.com</a:t>
            </a:r>
            <a:endParaRPr lang="en-US" sz="1600" dirty="0"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7"/>
          <p:cNvSpPr/>
          <p:nvPr/>
        </p:nvSpPr>
        <p:spPr>
          <a:xfrm>
            <a:off x="444500" y="2181225"/>
            <a:ext cx="2918132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cap="flat" cmpd="sng">
            <a:solidFill>
              <a:srgbClr val="C0D0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8"/>
          <p:cNvSpPr/>
          <p:nvPr/>
        </p:nvSpPr>
        <p:spPr>
          <a:xfrm>
            <a:off x="444500" y="2181225"/>
            <a:ext cx="50800" cy="762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cap="flat" cmpd="sng">
            <a:solidFill>
              <a:srgbClr val="C00000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9"/>
          <p:cNvSpPr/>
          <p:nvPr/>
        </p:nvSpPr>
        <p:spPr>
          <a:xfrm>
            <a:off x="698500" y="2181225"/>
            <a:ext cx="3556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更快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11" name="AutoShape 10"/>
          <p:cNvSpPr/>
          <p:nvPr/>
        </p:nvSpPr>
        <p:spPr>
          <a:xfrm>
            <a:off x="698500" y="2536825"/>
            <a:ext cx="3556000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理解意图,加速开发流程</a:t>
            </a:r>
            <a:endParaRPr lang="en-US" sz="1100" dirty="0"/>
          </a:p>
        </p:txBody>
      </p:sp>
      <p:sp>
        <p:nvSpPr>
          <p:cNvPr id="12" name="AutoShape 11"/>
          <p:cNvSpPr/>
          <p:nvPr/>
        </p:nvSpPr>
        <p:spPr>
          <a:xfrm>
            <a:off x="444500" y="3457575"/>
            <a:ext cx="2918132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cap="flat" cmpd="sng">
            <a:solidFill>
              <a:srgbClr val="C0D0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2"/>
          <p:cNvSpPr/>
          <p:nvPr/>
        </p:nvSpPr>
        <p:spPr>
          <a:xfrm>
            <a:off x="444500" y="3457575"/>
            <a:ext cx="50800" cy="762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cap="flat" cmpd="sng">
            <a:solidFill>
              <a:srgbClr val="C00000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3"/>
          <p:cNvSpPr/>
          <p:nvPr/>
        </p:nvSpPr>
        <p:spPr>
          <a:xfrm>
            <a:off x="698500" y="3457575"/>
            <a:ext cx="3556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更好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15" name="AutoShape 14"/>
          <p:cNvSpPr/>
          <p:nvPr/>
        </p:nvSpPr>
        <p:spPr>
          <a:xfrm>
            <a:off x="698500" y="3813175"/>
            <a:ext cx="3556000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理解代码,提升软件质量</a:t>
            </a:r>
            <a:endParaRPr lang="en-US" sz="110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042" y="1701286"/>
            <a:ext cx="5463977" cy="2975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9235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5750" y="323850"/>
            <a:ext cx="5072063" cy="58105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四、</a:t>
            </a:r>
            <a:r>
              <a:rPr lang="en-US" altLang="zh-CN" sz="2400" b="1" dirty="0" smtClean="0">
                <a:latin typeface="Microsoft YaHei"/>
                <a:ea typeface="Microsoft YaHei"/>
              </a:rPr>
              <a:t>Cursor </a:t>
            </a:r>
            <a:r>
              <a:rPr lang="zh-CN" altLang="en-US" sz="2400" b="1" dirty="0">
                <a:latin typeface="Microsoft YaHei"/>
                <a:ea typeface="Microsoft YaHei"/>
              </a:rPr>
              <a:t>简要使用①：角色</a:t>
            </a:r>
            <a:r>
              <a:rPr lang="zh-CN" altLang="en-US" sz="2400" b="1" dirty="0" smtClean="0">
                <a:latin typeface="Microsoft YaHei"/>
                <a:ea typeface="Microsoft YaHei"/>
              </a:rPr>
              <a:t>定位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450682" y="1833560"/>
            <a:ext cx="2530475" cy="206374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4"/>
          <p:cNvSpPr/>
          <p:nvPr/>
        </p:nvSpPr>
        <p:spPr>
          <a:xfrm>
            <a:off x="450682" y="1833560"/>
            <a:ext cx="45719" cy="206375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cap="flat" cmpd="sng">
            <a:solidFill>
              <a:srgbClr val="C30E0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5"/>
          <p:cNvSpPr/>
          <p:nvPr/>
        </p:nvSpPr>
        <p:spPr>
          <a:xfrm>
            <a:off x="450682" y="1079496"/>
            <a:ext cx="2530475" cy="500063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40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9" name="AutoShape 6"/>
          <p:cNvSpPr/>
          <p:nvPr/>
        </p:nvSpPr>
        <p:spPr>
          <a:xfrm>
            <a:off x="450682" y="2008184"/>
            <a:ext cx="2530475" cy="3333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需求整理</a:t>
            </a:r>
            <a:endParaRPr lang="en-US" sz="1100"/>
          </a:p>
        </p:txBody>
      </p:sp>
      <p:cxnSp>
        <p:nvCxnSpPr>
          <p:cNvPr id="10" name="Connector 7"/>
          <p:cNvCxnSpPr/>
          <p:nvPr/>
        </p:nvCxnSpPr>
        <p:spPr>
          <a:xfrm flipV="1">
            <a:off x="958682" y="2591047"/>
            <a:ext cx="1820165" cy="451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CAC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8"/>
          <p:cNvSpPr/>
          <p:nvPr/>
        </p:nvSpPr>
        <p:spPr>
          <a:xfrm>
            <a:off x="641182" y="2897184"/>
            <a:ext cx="2264109" cy="100012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裁定多源文档冲突，</a:t>
            </a:r>
            <a:r>
              <a:rPr lang="en-US" sz="1300" b="0" i="0" u="none" strike="noStrike" dirty="0" err="1" smtClean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明确</a:t>
            </a:r>
            <a:r>
              <a:rPr lang="zh-CN" altLang="en-US" sz="1300" b="0" i="0" u="none" strike="noStrike" dirty="0" smtClean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</a:t>
            </a:r>
            <a:r>
              <a:rPr lang="en-US" sz="1300" b="0" i="0" u="none" strike="noStrike" dirty="0" err="1" smtClean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r>
              <a:rPr lang="en-US" sz="1300" b="0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：在物理隔离网络中，构建无中心、高容错的分布式时间同步系统</a:t>
            </a:r>
            <a:r>
              <a:rPr lang="en-US" sz="1300" b="0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9"/>
          <p:cNvSpPr/>
          <p:nvPr/>
        </p:nvSpPr>
        <p:spPr>
          <a:xfrm>
            <a:off x="3422650" y="1833559"/>
            <a:ext cx="2530475" cy="206374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0"/>
          <p:cNvSpPr/>
          <p:nvPr/>
        </p:nvSpPr>
        <p:spPr>
          <a:xfrm>
            <a:off x="3422650" y="1833559"/>
            <a:ext cx="45719" cy="206375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cap="flat" cmpd="sng">
            <a:solidFill>
              <a:srgbClr val="C30E0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1"/>
          <p:cNvSpPr/>
          <p:nvPr/>
        </p:nvSpPr>
        <p:spPr>
          <a:xfrm>
            <a:off x="3422650" y="1079495"/>
            <a:ext cx="2530475" cy="500063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40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5" name="AutoShape 12"/>
          <p:cNvSpPr/>
          <p:nvPr/>
        </p:nvSpPr>
        <p:spPr>
          <a:xfrm>
            <a:off x="3422650" y="2008183"/>
            <a:ext cx="2530475" cy="3333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工程脚手架</a:t>
            </a:r>
            <a:endParaRPr lang="en-US" sz="1100" dirty="0"/>
          </a:p>
        </p:txBody>
      </p:sp>
      <p:cxnSp>
        <p:nvCxnSpPr>
          <p:cNvPr id="16" name="Connector 13"/>
          <p:cNvCxnSpPr/>
          <p:nvPr/>
        </p:nvCxnSpPr>
        <p:spPr>
          <a:xfrm flipV="1">
            <a:off x="3930650" y="2591046"/>
            <a:ext cx="1820165" cy="451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CAC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4"/>
          <p:cNvSpPr/>
          <p:nvPr/>
        </p:nvSpPr>
        <p:spPr>
          <a:xfrm>
            <a:off x="3613150" y="2897183"/>
            <a:ext cx="2264109" cy="100012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按SRS生成C语言项目目录、头文件、Makefile构建脚本，基于POSIX标准。</a:t>
            </a:r>
            <a:endParaRPr lang="en-US" sz="1100"/>
          </a:p>
        </p:txBody>
      </p:sp>
      <p:sp>
        <p:nvSpPr>
          <p:cNvPr id="18" name="AutoShape 15"/>
          <p:cNvSpPr/>
          <p:nvPr/>
        </p:nvSpPr>
        <p:spPr>
          <a:xfrm>
            <a:off x="6356350" y="1833560"/>
            <a:ext cx="2530475" cy="206374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6"/>
          <p:cNvSpPr/>
          <p:nvPr/>
        </p:nvSpPr>
        <p:spPr>
          <a:xfrm>
            <a:off x="6356350" y="1833560"/>
            <a:ext cx="45719" cy="206375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cap="flat" cmpd="sng">
            <a:solidFill>
              <a:srgbClr val="C30E0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17"/>
          <p:cNvSpPr/>
          <p:nvPr/>
        </p:nvSpPr>
        <p:spPr>
          <a:xfrm>
            <a:off x="6356350" y="1079496"/>
            <a:ext cx="2530475" cy="500063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40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1" name="AutoShape 18"/>
          <p:cNvSpPr/>
          <p:nvPr/>
        </p:nvSpPr>
        <p:spPr>
          <a:xfrm>
            <a:off x="6356350" y="2008184"/>
            <a:ext cx="2530475" cy="3333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算法落地</a:t>
            </a:r>
            <a:endParaRPr lang="en-US" sz="1100"/>
          </a:p>
        </p:txBody>
      </p:sp>
      <p:cxnSp>
        <p:nvCxnSpPr>
          <p:cNvPr id="22" name="Connector 19"/>
          <p:cNvCxnSpPr/>
          <p:nvPr/>
        </p:nvCxnSpPr>
        <p:spPr>
          <a:xfrm flipV="1">
            <a:off x="6864350" y="2591047"/>
            <a:ext cx="1820165" cy="451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CAC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0"/>
          <p:cNvSpPr/>
          <p:nvPr/>
        </p:nvSpPr>
        <p:spPr>
          <a:xfrm>
            <a:off x="6546850" y="2897184"/>
            <a:ext cx="2264109" cy="100012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实现双向时延测量、中位数共识、滑动窗口线性回归三大核心算法。</a:t>
            </a:r>
            <a:endParaRPr lang="en-US" sz="1100"/>
          </a:p>
        </p:txBody>
      </p:sp>
      <p:sp>
        <p:nvSpPr>
          <p:cNvPr id="25" name="AutoShape 21"/>
          <p:cNvSpPr/>
          <p:nvPr/>
        </p:nvSpPr>
        <p:spPr>
          <a:xfrm>
            <a:off x="450682" y="4191000"/>
            <a:ext cx="8436143" cy="635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dirty="0">
                <a:latin typeface="Noto Sans SC"/>
                <a:ea typeface="Noto Sans SC"/>
                <a:cs typeface="Noto Sans SC"/>
                <a:sym typeface="Noto Sans SC"/>
              </a:rPr>
              <a:t>在项目中，Cursor可扮演多重角色：作为需求分析师，它能裁定多源文档冲突并生成SRS；作为架构师，可按SRS生成C目录、头文件与构建脚本；作为核心开发者，能落地算法，实现协议编解码、测量回归等关键功能。</a:t>
            </a:r>
            <a:endParaRPr lang="en-US" sz="1600" dirty="0"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910809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5750" y="323850"/>
            <a:ext cx="5072063" cy="58105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四、</a:t>
            </a:r>
            <a:r>
              <a:rPr lang="en-US" altLang="zh-CN" sz="2400" b="1" dirty="0" smtClean="0">
                <a:latin typeface="Microsoft YaHei"/>
                <a:ea typeface="Microsoft YaHei"/>
              </a:rPr>
              <a:t>Cursor </a:t>
            </a:r>
            <a:r>
              <a:rPr lang="zh-CN" altLang="en-US" sz="2400" b="1" dirty="0">
                <a:latin typeface="Microsoft YaHei"/>
                <a:ea typeface="Microsoft YaHei"/>
              </a:rPr>
              <a:t>简要使用①：角色</a:t>
            </a:r>
            <a:r>
              <a:rPr lang="zh-CN" altLang="en-US" sz="2400" b="1" dirty="0" smtClean="0">
                <a:latin typeface="Microsoft YaHei"/>
                <a:ea typeface="Microsoft YaHei"/>
              </a:rPr>
              <a:t>定位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</p:txBody>
      </p:sp>
      <p:sp>
        <p:nvSpPr>
          <p:cNvPr id="25" name="AutoShape 21"/>
          <p:cNvSpPr/>
          <p:nvPr/>
        </p:nvSpPr>
        <p:spPr>
          <a:xfrm>
            <a:off x="406400" y="4257675"/>
            <a:ext cx="8436143" cy="635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600" dirty="0">
                <a:latin typeface="Noto Sans SC"/>
                <a:ea typeface="Noto Sans SC"/>
                <a:cs typeface="Noto Sans SC"/>
                <a:sym typeface="Noto Sans SC"/>
              </a:rPr>
              <a:t>通过以上两种方式，</a:t>
            </a:r>
            <a:r>
              <a:rPr lang="en-US" altLang="zh-CN" sz="1600" dirty="0">
                <a:latin typeface="Noto Sans SC"/>
                <a:ea typeface="Noto Sans SC"/>
                <a:cs typeface="Noto Sans SC"/>
                <a:sym typeface="Noto Sans SC"/>
              </a:rPr>
              <a:t>Cursor </a:t>
            </a:r>
            <a:r>
              <a:rPr lang="zh-CN" altLang="en-US" sz="1600" dirty="0">
                <a:latin typeface="Noto Sans SC"/>
                <a:ea typeface="Noto Sans SC"/>
                <a:cs typeface="Noto Sans SC"/>
                <a:sym typeface="Noto Sans SC"/>
              </a:rPr>
              <a:t>实现了真正的人机协同开发，让文档管理与代码协作变得更加高效。</a:t>
            </a:r>
          </a:p>
        </p:txBody>
      </p:sp>
      <p:sp>
        <p:nvSpPr>
          <p:cNvPr id="24" name="AutoShape 3"/>
          <p:cNvSpPr/>
          <p:nvPr/>
        </p:nvSpPr>
        <p:spPr>
          <a:xfrm>
            <a:off x="381000" y="1130300"/>
            <a:ext cx="40259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6" name="AutoShape 4"/>
          <p:cNvSpPr/>
          <p:nvPr/>
        </p:nvSpPr>
        <p:spPr>
          <a:xfrm>
            <a:off x="381000" y="1130300"/>
            <a:ext cx="50800" cy="29210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cap="flat" cmpd="sng">
            <a:solidFill>
              <a:srgbClr val="C30E0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5"/>
          <p:cNvSpPr/>
          <p:nvPr/>
        </p:nvSpPr>
        <p:spPr>
          <a:xfrm>
            <a:off x="660400" y="1358900"/>
            <a:ext cx="3746500" cy="533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文档同步</a:t>
            </a:r>
            <a:endParaRPr lang="en-US" sz="1100"/>
          </a:p>
        </p:txBody>
      </p:sp>
      <p:sp>
        <p:nvSpPr>
          <p:cNvPr id="28" name="AutoShape 6"/>
          <p:cNvSpPr/>
          <p:nvPr/>
        </p:nvSpPr>
        <p:spPr>
          <a:xfrm>
            <a:off x="660400" y="2082800"/>
            <a:ext cx="3746500" cy="1397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同步SRS、协议格式说明、算法说明书、状态机图等核心技术文档。</a:t>
            </a:r>
            <a:endParaRPr lang="en-US" sz="1100"/>
          </a:p>
        </p:txBody>
      </p:sp>
      <p:sp>
        <p:nvSpPr>
          <p:cNvPr id="29" name="AutoShape 7"/>
          <p:cNvSpPr/>
          <p:nvPr/>
        </p:nvSpPr>
        <p:spPr>
          <a:xfrm>
            <a:off x="4689475" y="1130300"/>
            <a:ext cx="40259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0" name="AutoShape 8"/>
          <p:cNvSpPr/>
          <p:nvPr/>
        </p:nvSpPr>
        <p:spPr>
          <a:xfrm>
            <a:off x="4689475" y="1130300"/>
            <a:ext cx="50800" cy="29210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cap="flat" cmpd="sng">
            <a:solidFill>
              <a:srgbClr val="C30E0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AutoShape 9"/>
          <p:cNvSpPr/>
          <p:nvPr/>
        </p:nvSpPr>
        <p:spPr>
          <a:xfrm>
            <a:off x="4968875" y="1358900"/>
            <a:ext cx="3746500" cy="533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协作方式</a:t>
            </a:r>
            <a:endParaRPr lang="en-US" sz="1100"/>
          </a:p>
        </p:txBody>
      </p:sp>
      <p:sp>
        <p:nvSpPr>
          <p:cNvPr id="32" name="AutoShape 10"/>
          <p:cNvSpPr/>
          <p:nvPr/>
        </p:nvSpPr>
        <p:spPr>
          <a:xfrm>
            <a:off x="4968875" y="2082800"/>
            <a:ext cx="3746500" cy="1397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自然语言描述目标 + @引用文档/代码 → Agent改仓库。例如：@符号通信数据报文格式.doc，为我生成C语言协议编解码函数。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981205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50" y="323850"/>
            <a:ext cx="5072063" cy="58105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四、</a:t>
            </a:r>
            <a:r>
              <a:rPr lang="en-US" altLang="zh-CN" sz="2400" b="1" dirty="0" smtClean="0">
                <a:latin typeface="Microsoft YaHei"/>
                <a:ea typeface="Microsoft YaHei"/>
              </a:rPr>
              <a:t>Cursor </a:t>
            </a:r>
            <a:r>
              <a:rPr lang="zh-CN" altLang="en-US" sz="2400" b="1" dirty="0">
                <a:latin typeface="Microsoft YaHei"/>
                <a:ea typeface="Microsoft YaHei"/>
              </a:rPr>
              <a:t>简要</a:t>
            </a:r>
            <a:r>
              <a:rPr lang="zh-CN" altLang="en-US" sz="2400" b="1" dirty="0" smtClean="0">
                <a:latin typeface="Microsoft YaHei"/>
                <a:ea typeface="Microsoft YaHei"/>
              </a:rPr>
              <a:t>使用</a:t>
            </a:r>
            <a:r>
              <a:rPr lang="zh-CN" altLang="en-US" sz="2400" b="1" dirty="0">
                <a:latin typeface="Microsoft YaHei"/>
                <a:ea typeface="Microsoft YaHei"/>
              </a:rPr>
              <a:t>②：实用</a:t>
            </a:r>
            <a:r>
              <a:rPr lang="zh-CN" altLang="en-US" sz="2400" b="1" dirty="0" smtClean="0">
                <a:latin typeface="Microsoft YaHei"/>
                <a:ea typeface="Microsoft YaHei"/>
              </a:rPr>
              <a:t>操作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</p:txBody>
      </p:sp>
      <p:sp>
        <p:nvSpPr>
          <p:cNvPr id="5" name="AutoShape 4"/>
          <p:cNvSpPr/>
          <p:nvPr/>
        </p:nvSpPr>
        <p:spPr>
          <a:xfrm>
            <a:off x="285750" y="1104900"/>
            <a:ext cx="27305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5"/>
          <p:cNvSpPr/>
          <p:nvPr/>
        </p:nvSpPr>
        <p:spPr>
          <a:xfrm>
            <a:off x="285750" y="1104900"/>
            <a:ext cx="50800" cy="3429000"/>
          </a:xfrm>
          <a:prstGeom prst="roundRect">
            <a:avLst>
              <a:gd name="adj" fmla="val 0"/>
            </a:avLst>
          </a:prstGeom>
          <a:solidFill>
            <a:srgbClr val="D93025">
              <a:alpha val="100000"/>
            </a:srgbClr>
          </a:solidFill>
          <a:ln cap="flat" cmpd="sng">
            <a:solidFill>
              <a:srgbClr val="C0180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6"/>
          <p:cNvSpPr/>
          <p:nvPr/>
        </p:nvSpPr>
        <p:spPr>
          <a:xfrm>
            <a:off x="285750" y="1295400"/>
            <a:ext cx="27305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4400" b="1" i="0" u="none" strike="noStrike">
                <a:solidFill>
                  <a:srgbClr val="D93025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7"/>
          <p:cNvSpPr/>
          <p:nvPr/>
        </p:nvSpPr>
        <p:spPr>
          <a:xfrm>
            <a:off x="285750" y="2247900"/>
            <a:ext cx="2730500" cy="431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D93025"/>
                </a:solidFill>
                <a:latin typeface="Noto Sans SC"/>
                <a:ea typeface="Noto Sans SC"/>
                <a:cs typeface="Noto Sans SC"/>
                <a:sym typeface="Noto Sans SC"/>
              </a:rPr>
              <a:t>Agent 模式</a:t>
            </a:r>
            <a:endParaRPr lang="en-US" sz="1100"/>
          </a:p>
        </p:txBody>
      </p:sp>
      <p:cxnSp>
        <p:nvCxnSpPr>
          <p:cNvPr id="9" name="Connector 8"/>
          <p:cNvCxnSpPr/>
          <p:nvPr/>
        </p:nvCxnSpPr>
        <p:spPr>
          <a:xfrm rot="-22178">
            <a:off x="666770" y="27495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9"/>
          <p:cNvSpPr/>
          <p:nvPr/>
        </p:nvSpPr>
        <p:spPr>
          <a:xfrm>
            <a:off x="285750" y="2882900"/>
            <a:ext cx="2730500" cy="146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直接修改代码、编写测试、补文档。例如：实现合成时钟输出公式</a:t>
            </a:r>
            <a:r>
              <a:rPr lang="en-US" sz="12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Tsyn,i</a:t>
            </a:r>
            <a:r>
              <a:rPr lang="en-US" sz="12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(t) = Cᵢ(t) + θ̂ᵢ + α̂ᵢ * </a:t>
            </a:r>
            <a:r>
              <a:rPr lang="en-US" sz="12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Δt</a:t>
            </a:r>
            <a:r>
              <a:rPr lang="en-US" sz="12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0"/>
          <p:cNvSpPr/>
          <p:nvPr/>
        </p:nvSpPr>
        <p:spPr>
          <a:xfrm>
            <a:off x="3206750" y="1104900"/>
            <a:ext cx="27305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1"/>
          <p:cNvSpPr/>
          <p:nvPr/>
        </p:nvSpPr>
        <p:spPr>
          <a:xfrm>
            <a:off x="3206750" y="1104900"/>
            <a:ext cx="50800" cy="3429000"/>
          </a:xfrm>
          <a:prstGeom prst="roundRect">
            <a:avLst>
              <a:gd name="adj" fmla="val 0"/>
            </a:avLst>
          </a:prstGeom>
          <a:solidFill>
            <a:srgbClr val="D93025">
              <a:alpha val="100000"/>
            </a:srgbClr>
          </a:solidFill>
          <a:ln cap="flat" cmpd="sng">
            <a:solidFill>
              <a:srgbClr val="C0180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2"/>
          <p:cNvSpPr/>
          <p:nvPr/>
        </p:nvSpPr>
        <p:spPr>
          <a:xfrm>
            <a:off x="3206750" y="1295400"/>
            <a:ext cx="27305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4400" b="1" i="0" u="none" strike="noStrike">
                <a:solidFill>
                  <a:srgbClr val="D93025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4" name="AutoShape 13"/>
          <p:cNvSpPr/>
          <p:nvPr/>
        </p:nvSpPr>
        <p:spPr>
          <a:xfrm>
            <a:off x="3206750" y="2247900"/>
            <a:ext cx="2730500" cy="431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D93025"/>
                </a:solidFill>
                <a:latin typeface="Noto Sans SC"/>
                <a:ea typeface="Noto Sans SC"/>
                <a:cs typeface="Noto Sans SC"/>
                <a:sym typeface="Noto Sans SC"/>
              </a:rPr>
              <a:t>Plan 模式</a:t>
            </a:r>
            <a:endParaRPr lang="en-US" sz="1100"/>
          </a:p>
        </p:txBody>
      </p:sp>
      <p:cxnSp>
        <p:nvCxnSpPr>
          <p:cNvPr id="15" name="Connector 14"/>
          <p:cNvCxnSpPr/>
          <p:nvPr/>
        </p:nvCxnSpPr>
        <p:spPr>
          <a:xfrm rot="-22178">
            <a:off x="3587770" y="27495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5"/>
          <p:cNvSpPr/>
          <p:nvPr/>
        </p:nvSpPr>
        <p:spPr>
          <a:xfrm>
            <a:off x="3206750" y="2882900"/>
            <a:ext cx="2730500" cy="146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大改前先出方案再确认执行。例如：规划项目开发的四个阶段：环境搭建、算法实现、状态机开发、测试调试</a:t>
            </a:r>
            <a:r>
              <a:rPr lang="en-US" sz="12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7" name="AutoShape 16"/>
          <p:cNvSpPr/>
          <p:nvPr/>
        </p:nvSpPr>
        <p:spPr>
          <a:xfrm>
            <a:off x="6127750" y="1104900"/>
            <a:ext cx="27305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7"/>
          <p:cNvSpPr/>
          <p:nvPr/>
        </p:nvSpPr>
        <p:spPr>
          <a:xfrm>
            <a:off x="6127750" y="1104900"/>
            <a:ext cx="50800" cy="3429000"/>
          </a:xfrm>
          <a:prstGeom prst="roundRect">
            <a:avLst>
              <a:gd name="adj" fmla="val 0"/>
            </a:avLst>
          </a:prstGeom>
          <a:solidFill>
            <a:srgbClr val="D93025">
              <a:alpha val="100000"/>
            </a:srgbClr>
          </a:solidFill>
          <a:ln cap="flat" cmpd="sng">
            <a:solidFill>
              <a:srgbClr val="C0180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8"/>
          <p:cNvSpPr/>
          <p:nvPr/>
        </p:nvSpPr>
        <p:spPr>
          <a:xfrm>
            <a:off x="6127750" y="1295400"/>
            <a:ext cx="27305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4400" b="1" i="0" u="none" strike="noStrike">
                <a:solidFill>
                  <a:srgbClr val="D93025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0" name="AutoShape 19"/>
          <p:cNvSpPr/>
          <p:nvPr/>
        </p:nvSpPr>
        <p:spPr>
          <a:xfrm>
            <a:off x="6127750" y="2247900"/>
            <a:ext cx="2730500" cy="431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D93025"/>
                </a:solidFill>
                <a:latin typeface="Noto Sans SC"/>
                <a:ea typeface="Noto Sans SC"/>
                <a:cs typeface="Noto Sans SC"/>
                <a:sym typeface="Noto Sans SC"/>
              </a:rPr>
              <a:t>@文件 / @文件夹</a:t>
            </a:r>
            <a:endParaRPr lang="en-US" sz="1100"/>
          </a:p>
        </p:txBody>
      </p:sp>
      <p:cxnSp>
        <p:nvCxnSpPr>
          <p:cNvPr id="21" name="Connector 20"/>
          <p:cNvCxnSpPr/>
          <p:nvPr/>
        </p:nvCxnSpPr>
        <p:spPr>
          <a:xfrm rot="-22178">
            <a:off x="6508770" y="27495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1"/>
          <p:cNvSpPr/>
          <p:nvPr/>
        </p:nvSpPr>
        <p:spPr>
          <a:xfrm>
            <a:off x="6127750" y="2882900"/>
            <a:ext cx="2730500" cy="146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把SRS、协议文档、算法说明拉进上下文，让Cursor精准理解需求</a:t>
            </a:r>
            <a:r>
              <a:rPr lang="en-US" sz="12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3" name="AutoShape 22"/>
          <p:cNvSpPr/>
          <p:nvPr/>
        </p:nvSpPr>
        <p:spPr>
          <a:xfrm>
            <a:off x="285750" y="4718050"/>
            <a:ext cx="8572500" cy="355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dirty="0" err="1">
                <a:latin typeface="Noto Sans SC"/>
                <a:ea typeface="Noto Sans SC"/>
                <a:cs typeface="Noto Sans SC"/>
                <a:sym typeface="Noto Sans SC"/>
              </a:rPr>
              <a:t>灵活组合三种操作,让</a:t>
            </a:r>
            <a:r>
              <a:rPr lang="en-US" sz="1600" dirty="0">
                <a:latin typeface="Noto Sans SC"/>
                <a:ea typeface="Noto Sans SC"/>
                <a:cs typeface="Noto Sans SC"/>
                <a:sym typeface="Noto Sans SC"/>
              </a:rPr>
              <a:t> Cursor </a:t>
            </a:r>
            <a:r>
              <a:rPr lang="en-US" sz="1600" dirty="0" err="1">
                <a:latin typeface="Noto Sans SC"/>
                <a:ea typeface="Noto Sans SC"/>
                <a:cs typeface="Noto Sans SC"/>
                <a:sym typeface="Noto Sans SC"/>
              </a:rPr>
              <a:t>更精准地理解</a:t>
            </a:r>
            <a:r>
              <a:rPr lang="zh-CN" altLang="en-US" sz="1600" dirty="0">
                <a:latin typeface="Noto Sans SC"/>
                <a:ea typeface="Noto Sans SC"/>
                <a:cs typeface="Noto Sans SC"/>
                <a:sym typeface="Noto Sans SC"/>
              </a:rPr>
              <a:t>我们</a:t>
            </a:r>
            <a:r>
              <a:rPr lang="en-US" sz="1600" dirty="0" err="1">
                <a:latin typeface="Noto Sans SC"/>
                <a:ea typeface="Noto Sans SC"/>
                <a:cs typeface="Noto Sans SC"/>
                <a:sym typeface="Noto Sans SC"/>
              </a:rPr>
              <a:t>的开发意图</a:t>
            </a:r>
            <a:endParaRPr lang="en-US" sz="1600" dirty="0"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149969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440" y="1333738"/>
            <a:ext cx="8229600" cy="3363390"/>
          </a:xfrm>
        </p:spPr>
        <p:txBody>
          <a:bodyPr>
            <a:noAutofit/>
          </a:bodyPr>
          <a:lstStyle/>
          <a:p>
            <a:pPr algn="l"/>
            <a:r>
              <a:rPr lang="en-US" altLang="zh-CN" sz="800" dirty="0"/>
              <a:t>Cursor </a:t>
            </a:r>
            <a:r>
              <a:rPr lang="zh-CN" altLang="en-US" sz="800" dirty="0"/>
              <a:t>中的 </a:t>
            </a:r>
            <a:r>
              <a:rPr lang="en-US" altLang="zh-CN" sz="800" dirty="0"/>
              <a:t>repos</a:t>
            </a:r>
            <a:r>
              <a:rPr lang="zh-CN" altLang="en-US" sz="800" dirty="0"/>
              <a:t>（</a:t>
            </a:r>
            <a:r>
              <a:rPr lang="en-US" altLang="zh-CN" sz="800" dirty="0"/>
              <a:t>Repositories</a:t>
            </a:r>
            <a:r>
              <a:rPr lang="zh-CN" altLang="en-US" sz="800" dirty="0"/>
              <a:t>，代码仓库） 核心是管理、索引、关联本地 </a:t>
            </a:r>
            <a:r>
              <a:rPr lang="en-US" altLang="zh-CN" sz="800" dirty="0"/>
              <a:t>/ </a:t>
            </a:r>
            <a:r>
              <a:rPr lang="zh-CN" altLang="en-US" sz="800" dirty="0"/>
              <a:t>远程 </a:t>
            </a:r>
            <a:r>
              <a:rPr lang="en-US" altLang="zh-CN" sz="800" dirty="0" err="1"/>
              <a:t>Git</a:t>
            </a:r>
            <a:r>
              <a:rPr lang="en-US" altLang="zh-CN" sz="800" dirty="0"/>
              <a:t> </a:t>
            </a:r>
            <a:r>
              <a:rPr lang="zh-CN" altLang="en-US" sz="800" dirty="0"/>
              <a:t>仓库，让 </a:t>
            </a:r>
            <a:r>
              <a:rPr lang="en-US" altLang="zh-CN" sz="800" dirty="0"/>
              <a:t>AI </a:t>
            </a:r>
            <a:r>
              <a:rPr lang="zh-CN" altLang="en-US" sz="800" dirty="0"/>
              <a:t>能跨仓库理解代码上下文，实现多项目协同开发与自动化任务。</a:t>
            </a:r>
            <a:br>
              <a:rPr lang="zh-CN" altLang="en-US" sz="800" dirty="0"/>
            </a:br>
            <a:r>
              <a:rPr lang="zh-CN" altLang="en-US" sz="800" dirty="0"/>
              <a:t>一、核心功能</a:t>
            </a:r>
            <a:br>
              <a:rPr lang="zh-CN" altLang="en-US" sz="800" dirty="0"/>
            </a:br>
            <a:r>
              <a:rPr lang="zh-CN" altLang="en-US" sz="800" dirty="0"/>
              <a:t>仓库管理与索引 加载本地 </a:t>
            </a:r>
            <a:r>
              <a:rPr lang="en-US" altLang="zh-CN" sz="800" dirty="0" err="1"/>
              <a:t>Git</a:t>
            </a:r>
            <a:r>
              <a:rPr lang="en-US" altLang="zh-CN" sz="800" dirty="0"/>
              <a:t> </a:t>
            </a:r>
            <a:r>
              <a:rPr lang="zh-CN" altLang="en-US" sz="800" dirty="0"/>
              <a:t>仓库，自动扫描、索引代码文件、依赖、提交历史，让 </a:t>
            </a:r>
            <a:r>
              <a:rPr lang="en-US" altLang="zh-CN" sz="800" dirty="0"/>
              <a:t>AI </a:t>
            </a:r>
            <a:r>
              <a:rPr lang="zh-CN" altLang="en-US" sz="800" dirty="0"/>
              <a:t>理解项目结构。</a:t>
            </a:r>
            <a:br>
              <a:rPr lang="zh-CN" altLang="en-US" sz="800" dirty="0"/>
            </a:br>
            <a:r>
              <a:rPr lang="zh-CN" altLang="en-US" sz="800" dirty="0"/>
              <a:t>支持多仓库（</a:t>
            </a:r>
            <a:r>
              <a:rPr lang="en-US" altLang="zh-CN" sz="800" dirty="0"/>
              <a:t>Multi-repo</a:t>
            </a:r>
            <a:r>
              <a:rPr lang="zh-CN" altLang="en-US" sz="800" dirty="0"/>
              <a:t>）：添加多个独立仓库到工作区，</a:t>
            </a:r>
            <a:r>
              <a:rPr lang="en-US" altLang="zh-CN" sz="800" dirty="0"/>
              <a:t>AI </a:t>
            </a:r>
            <a:r>
              <a:rPr lang="zh-CN" altLang="en-US" sz="800" dirty="0"/>
              <a:t>可同时读取、跨仓库推理。</a:t>
            </a:r>
            <a:br>
              <a:rPr lang="zh-CN" altLang="en-US" sz="800" dirty="0"/>
            </a:br>
            <a:r>
              <a:rPr lang="zh-CN" altLang="en-US" sz="800" dirty="0"/>
              <a:t>支持单体仓库（</a:t>
            </a:r>
            <a:r>
              <a:rPr lang="en-US" altLang="zh-CN" sz="800" dirty="0" err="1"/>
              <a:t>Monorepo</a:t>
            </a:r>
            <a:r>
              <a:rPr lang="zh-CN" altLang="en-US" sz="800" dirty="0"/>
              <a:t>）：适配大型单仓库多模块项目，精准索引子目录。</a:t>
            </a:r>
            <a:br>
              <a:rPr lang="zh-CN" altLang="en-US" sz="800" dirty="0"/>
            </a:br>
            <a:r>
              <a:rPr lang="en-US" altLang="zh-CN" sz="800" dirty="0"/>
              <a:t>AI </a:t>
            </a:r>
            <a:r>
              <a:rPr lang="zh-CN" altLang="en-US" sz="800" dirty="0"/>
              <a:t>上下文增强 让 </a:t>
            </a:r>
            <a:r>
              <a:rPr lang="en-US" altLang="zh-CN" sz="800" dirty="0"/>
              <a:t>Cursor AI/Cloud Agent </a:t>
            </a:r>
            <a:r>
              <a:rPr lang="zh-CN" altLang="en-US" sz="800" dirty="0"/>
              <a:t>拥有完整跨仓库代码上下文，理解微服务、前后端、共享库的关联</a:t>
            </a:r>
            <a:r>
              <a:rPr lang="en-US" altLang="zh-CN" sz="800" dirty="0"/>
              <a:t>Cursor</a:t>
            </a:r>
            <a:r>
              <a:rPr lang="zh-CN" altLang="en-US" sz="800" dirty="0"/>
              <a:t>。</a:t>
            </a:r>
            <a:br>
              <a:rPr lang="zh-CN" altLang="en-US" sz="800" dirty="0"/>
            </a:br>
            <a:r>
              <a:rPr lang="zh-CN" altLang="en-US" sz="800" dirty="0"/>
              <a:t>支持跨仓库代码补全、重构、查错、生成文档，无需手动切换项目。</a:t>
            </a:r>
            <a:br>
              <a:rPr lang="zh-CN" altLang="en-US" sz="800" dirty="0"/>
            </a:br>
            <a:r>
              <a:rPr lang="zh-CN" altLang="en-US" sz="800" dirty="0"/>
              <a:t>远程仓库集成（</a:t>
            </a:r>
            <a:r>
              <a:rPr lang="en-US" altLang="zh-CN" sz="800" dirty="0" err="1"/>
              <a:t>GitHub</a:t>
            </a:r>
            <a:r>
              <a:rPr lang="en-US" altLang="zh-CN" sz="800" dirty="0"/>
              <a:t>/</a:t>
            </a:r>
            <a:r>
              <a:rPr lang="en-US" altLang="zh-CN" sz="800" dirty="0" err="1"/>
              <a:t>GitLab</a:t>
            </a:r>
            <a:r>
              <a:rPr lang="zh-CN" altLang="en-US" sz="800" dirty="0"/>
              <a:t>） 绑定 </a:t>
            </a:r>
            <a:r>
              <a:rPr lang="en-US" altLang="zh-CN" sz="800" dirty="0" err="1"/>
              <a:t>GitHub</a:t>
            </a:r>
            <a:r>
              <a:rPr lang="en-US" altLang="zh-CN" sz="800" dirty="0"/>
              <a:t> </a:t>
            </a:r>
            <a:r>
              <a:rPr lang="zh-CN" altLang="en-US" sz="800" dirty="0"/>
              <a:t>账号，一键拉取、同步远程仓库，支持 </a:t>
            </a:r>
            <a:r>
              <a:rPr lang="en-US" altLang="zh-CN" sz="800" dirty="0"/>
              <a:t>PR </a:t>
            </a:r>
            <a:r>
              <a:rPr lang="zh-CN" altLang="en-US" sz="800" dirty="0"/>
              <a:t>查看、评论、合并</a:t>
            </a:r>
            <a:r>
              <a:rPr lang="en-US" altLang="zh-CN" sz="800" dirty="0"/>
              <a:t>Cursor</a:t>
            </a:r>
            <a:r>
              <a:rPr lang="zh-CN" altLang="en-US" sz="800" dirty="0"/>
              <a:t>。</a:t>
            </a:r>
            <a:br>
              <a:rPr lang="zh-CN" altLang="en-US" sz="800" dirty="0"/>
            </a:br>
            <a:r>
              <a:rPr lang="en-US" altLang="zh-CN" sz="800" dirty="0"/>
              <a:t>Cloud Agent </a:t>
            </a:r>
            <a:r>
              <a:rPr lang="zh-CN" altLang="en-US" sz="800" dirty="0"/>
              <a:t>可直接在云端操作关联仓库，自动提交修复、创建 </a:t>
            </a:r>
            <a:r>
              <a:rPr lang="en-US" altLang="zh-CN" sz="800" dirty="0" err="1"/>
              <a:t>PRCursor</a:t>
            </a:r>
            <a:r>
              <a:rPr lang="zh-CN" altLang="en-US" sz="800" dirty="0"/>
              <a:t>。</a:t>
            </a:r>
            <a:br>
              <a:rPr lang="zh-CN" altLang="en-US" sz="800" dirty="0"/>
            </a:br>
            <a:r>
              <a:rPr lang="zh-CN" altLang="en-US" sz="800" dirty="0"/>
              <a:t>自动化与批量操作 配置多仓库自动化任务（如批量更新依赖、统一代码规范）。</a:t>
            </a:r>
            <a:br>
              <a:rPr lang="zh-CN" altLang="en-US" sz="800" dirty="0"/>
            </a:br>
            <a:r>
              <a:rPr lang="zh-CN" altLang="en-US" sz="800" dirty="0"/>
              <a:t>通过 </a:t>
            </a:r>
            <a:r>
              <a:rPr lang="en-US" altLang="zh-CN" sz="800" dirty="0"/>
              <a:t>API/CLI </a:t>
            </a:r>
            <a:r>
              <a:rPr lang="zh-CN" altLang="en-US" sz="800" dirty="0"/>
              <a:t>批量获取、筛选、操作仓库（</a:t>
            </a:r>
            <a:r>
              <a:rPr lang="en-US" altLang="zh-CN" sz="800" dirty="0" err="1"/>
              <a:t>get_repos</a:t>
            </a:r>
            <a:r>
              <a:rPr lang="zh-CN" altLang="en-US" sz="800" dirty="0"/>
              <a:t>、</a:t>
            </a:r>
            <a:r>
              <a:rPr lang="en-US" altLang="zh-CN" sz="800" dirty="0" err="1"/>
              <a:t>Cursor.repositories.list</a:t>
            </a:r>
            <a:r>
              <a:rPr lang="zh-CN" altLang="en-US" sz="800" dirty="0"/>
              <a:t>）。</a:t>
            </a:r>
            <a:br>
              <a:rPr lang="zh-CN" altLang="en-US" sz="800" dirty="0"/>
            </a:br>
            <a:r>
              <a:rPr lang="zh-CN" altLang="en-US" sz="800" dirty="0"/>
              <a:t>规则与权限控制 用 </a:t>
            </a:r>
            <a:r>
              <a:rPr lang="en-US" altLang="zh-CN" sz="800" dirty="0"/>
              <a:t>.</a:t>
            </a:r>
            <a:r>
              <a:rPr lang="en-US" altLang="zh-CN" sz="800" dirty="0" err="1"/>
              <a:t>cursorrules</a:t>
            </a:r>
            <a:r>
              <a:rPr lang="en-US" altLang="zh-CN" sz="800" dirty="0"/>
              <a:t> </a:t>
            </a:r>
            <a:r>
              <a:rPr lang="zh-CN" altLang="en-US" sz="800" dirty="0"/>
              <a:t>定义仓库级 </a:t>
            </a:r>
            <a:r>
              <a:rPr lang="en-US" altLang="zh-CN" sz="800" dirty="0"/>
              <a:t>AI </a:t>
            </a:r>
            <a:r>
              <a:rPr lang="zh-CN" altLang="en-US" sz="800" dirty="0"/>
              <a:t>行为（如忽略文件、代码风格）。</a:t>
            </a:r>
            <a:br>
              <a:rPr lang="zh-CN" altLang="en-US" sz="800" dirty="0"/>
            </a:br>
            <a:r>
              <a:rPr lang="zh-CN" altLang="en-US" sz="800" dirty="0"/>
              <a:t>控制 </a:t>
            </a:r>
            <a:r>
              <a:rPr lang="en-US" altLang="zh-CN" sz="800" dirty="0"/>
              <a:t>AI </a:t>
            </a:r>
            <a:r>
              <a:rPr lang="zh-CN" altLang="en-US" sz="800" dirty="0"/>
              <a:t>对仓库的读写权限，保障代码安全</a:t>
            </a:r>
            <a:r>
              <a:rPr lang="en-US" altLang="zh-CN" sz="800" dirty="0"/>
              <a:t>Cursor</a:t>
            </a:r>
            <a:r>
              <a:rPr lang="zh-CN" altLang="en-US" sz="800" dirty="0"/>
              <a:t>。</a:t>
            </a:r>
            <a:br>
              <a:rPr lang="zh-CN" altLang="en-US" sz="800" dirty="0"/>
            </a:br>
            <a:r>
              <a:rPr lang="zh-CN" altLang="en-US" sz="800" dirty="0"/>
              <a:t>二、典型使用场景</a:t>
            </a:r>
            <a:br>
              <a:rPr lang="zh-CN" altLang="en-US" sz="800" dirty="0"/>
            </a:br>
            <a:r>
              <a:rPr lang="zh-CN" altLang="en-US" sz="800" dirty="0"/>
              <a:t>微服务开发：同时操作后端、前端、共享库，</a:t>
            </a:r>
            <a:r>
              <a:rPr lang="en-US" altLang="zh-CN" sz="800" dirty="0"/>
              <a:t>AI </a:t>
            </a:r>
            <a:r>
              <a:rPr lang="zh-CN" altLang="en-US" sz="800" dirty="0"/>
              <a:t>自动关联跨服务逻辑</a:t>
            </a:r>
            <a:r>
              <a:rPr lang="en-US" altLang="zh-CN" sz="800" dirty="0"/>
              <a:t>Cursor</a:t>
            </a:r>
            <a:r>
              <a:rPr lang="zh-CN" altLang="en-US" sz="800" dirty="0"/>
              <a:t>。</a:t>
            </a:r>
            <a:br>
              <a:rPr lang="zh-CN" altLang="en-US" sz="800" dirty="0"/>
            </a:br>
            <a:r>
              <a:rPr lang="zh-CN" altLang="en-US" sz="800" dirty="0"/>
              <a:t>大型项目重构：跨模块批量修改、统一接口，</a:t>
            </a:r>
            <a:r>
              <a:rPr lang="en-US" altLang="zh-CN" sz="800" dirty="0"/>
              <a:t>AI </a:t>
            </a:r>
            <a:r>
              <a:rPr lang="zh-CN" altLang="en-US" sz="800" dirty="0"/>
              <a:t>评估影响范围。</a:t>
            </a:r>
            <a:br>
              <a:rPr lang="zh-CN" altLang="en-US" sz="800" dirty="0"/>
            </a:br>
            <a:r>
              <a:rPr lang="zh-CN" altLang="en-US" sz="800" dirty="0"/>
              <a:t>开源协作：快速索引多个依赖仓库，理解整体代码生态。</a:t>
            </a:r>
            <a:br>
              <a:rPr lang="zh-CN" altLang="en-US" sz="800" dirty="0"/>
            </a:br>
            <a:r>
              <a:rPr lang="en-US" altLang="zh-CN" sz="800" dirty="0"/>
              <a:t>CI/CD </a:t>
            </a:r>
            <a:r>
              <a:rPr lang="zh-CN" altLang="en-US" sz="800" dirty="0"/>
              <a:t>集成：自动触发多仓库构建、测试、部署</a:t>
            </a:r>
            <a:r>
              <a:rPr lang="en-US" altLang="zh-CN" sz="800" dirty="0"/>
              <a:t>Cursor</a:t>
            </a:r>
            <a:r>
              <a:rPr lang="zh-CN" altLang="en-US" sz="800" dirty="0"/>
              <a:t>。</a:t>
            </a:r>
            <a:br>
              <a:rPr lang="zh-CN" altLang="en-US" sz="800" dirty="0"/>
            </a:br>
            <a:r>
              <a:rPr lang="zh-CN" altLang="en-US" sz="800" dirty="0"/>
              <a:t>三、操作入口</a:t>
            </a:r>
            <a:br>
              <a:rPr lang="zh-CN" altLang="en-US" sz="800" dirty="0"/>
            </a:br>
            <a:r>
              <a:rPr lang="zh-CN" altLang="en-US" sz="800" dirty="0"/>
              <a:t>本地：</a:t>
            </a:r>
            <a:r>
              <a:rPr lang="en-US" altLang="zh-CN" sz="800" dirty="0"/>
              <a:t>File &gt; Open Folder / Add Folder to Workspace </a:t>
            </a:r>
            <a:r>
              <a:rPr lang="zh-CN" altLang="en-US" sz="800" dirty="0"/>
              <a:t>加载多仓库。</a:t>
            </a:r>
            <a:br>
              <a:rPr lang="zh-CN" altLang="en-US" sz="800" dirty="0"/>
            </a:br>
            <a:r>
              <a:rPr lang="zh-CN" altLang="en-US" sz="800" dirty="0"/>
              <a:t>远程：</a:t>
            </a:r>
            <a:r>
              <a:rPr lang="en-US" altLang="zh-CN" sz="800" dirty="0" err="1"/>
              <a:t>Ctrl+Shift+P</a:t>
            </a:r>
            <a:r>
              <a:rPr lang="en-US" altLang="zh-CN" sz="800" dirty="0"/>
              <a:t> → Clone Repository </a:t>
            </a:r>
            <a:r>
              <a:rPr lang="zh-CN" altLang="en-US" sz="800" dirty="0"/>
              <a:t>克隆远程仓库。</a:t>
            </a:r>
            <a:br>
              <a:rPr lang="zh-CN" altLang="en-US" sz="800" dirty="0"/>
            </a:br>
            <a:r>
              <a:rPr lang="zh-CN" altLang="en-US" sz="800" dirty="0"/>
              <a:t>云端：</a:t>
            </a:r>
            <a:r>
              <a:rPr lang="en-US" altLang="zh-CN" sz="800" dirty="0"/>
              <a:t>Dashboard → Integrations → </a:t>
            </a:r>
            <a:r>
              <a:rPr lang="en-US" altLang="zh-CN" sz="800" dirty="0" err="1"/>
              <a:t>GitHub</a:t>
            </a:r>
            <a:r>
              <a:rPr lang="en-US" altLang="zh-CN" sz="800" dirty="0"/>
              <a:t> </a:t>
            </a:r>
            <a:r>
              <a:rPr lang="zh-CN" altLang="en-US" sz="800" dirty="0"/>
              <a:t>绑定并管理仓库</a:t>
            </a:r>
            <a:r>
              <a:rPr lang="en-US" altLang="zh-CN" sz="800" dirty="0"/>
              <a:t>Cursor</a:t>
            </a:r>
            <a:r>
              <a:rPr lang="zh-CN" altLang="en-US" sz="800" dirty="0"/>
              <a:t>。</a:t>
            </a:r>
            <a:br>
              <a:rPr lang="zh-CN" altLang="en-US" sz="800" dirty="0"/>
            </a:br>
            <a:r>
              <a:rPr lang="zh-CN" altLang="en-US" sz="800" dirty="0"/>
              <a:t>需要我给你一份在 </a:t>
            </a:r>
            <a:r>
              <a:rPr lang="en-US" altLang="zh-CN" sz="800" dirty="0"/>
              <a:t>Cursor </a:t>
            </a:r>
            <a:r>
              <a:rPr lang="zh-CN" altLang="en-US" sz="800" dirty="0"/>
              <a:t>中添加多仓库工作区并配置 </a:t>
            </a:r>
            <a:r>
              <a:rPr lang="en-US" altLang="zh-CN" sz="800" dirty="0"/>
              <a:t>.</a:t>
            </a:r>
            <a:r>
              <a:rPr lang="en-US" altLang="zh-CN" sz="800" dirty="0" err="1"/>
              <a:t>cursorrules</a:t>
            </a:r>
            <a:r>
              <a:rPr lang="en-US" altLang="zh-CN" sz="800" dirty="0"/>
              <a:t> </a:t>
            </a:r>
            <a:r>
              <a:rPr lang="zh-CN" altLang="en-US" sz="800" dirty="0"/>
              <a:t>的快速上手步骤吗？</a:t>
            </a:r>
            <a:br>
              <a:rPr lang="zh-CN" altLang="en-US" sz="800" dirty="0"/>
            </a:b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28633319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50" y="323850"/>
            <a:ext cx="5072063" cy="58105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四、</a:t>
            </a:r>
            <a:r>
              <a:rPr lang="en-US" altLang="zh-CN" sz="2400" b="1" dirty="0" smtClean="0">
                <a:latin typeface="Microsoft YaHei"/>
                <a:ea typeface="Microsoft YaHei"/>
              </a:rPr>
              <a:t>Cursor </a:t>
            </a:r>
            <a:r>
              <a:rPr lang="zh-CN" altLang="en-US" sz="2400" b="1" dirty="0">
                <a:latin typeface="Microsoft YaHei"/>
                <a:ea typeface="Microsoft YaHei"/>
              </a:rPr>
              <a:t>简要</a:t>
            </a:r>
            <a:r>
              <a:rPr lang="zh-CN" altLang="en-US" sz="2400" b="1" dirty="0" smtClean="0">
                <a:latin typeface="Microsoft YaHei"/>
                <a:ea typeface="Microsoft YaHei"/>
              </a:rPr>
              <a:t>使用</a:t>
            </a:r>
            <a:r>
              <a:rPr lang="zh-CN" altLang="en-US" sz="2400" b="1" dirty="0">
                <a:latin typeface="Microsoft YaHei"/>
                <a:ea typeface="Microsoft YaHei"/>
              </a:rPr>
              <a:t>②：实用</a:t>
            </a:r>
            <a:r>
              <a:rPr lang="zh-CN" altLang="en-US" sz="2400" b="1" dirty="0" smtClean="0">
                <a:latin typeface="Microsoft YaHei"/>
                <a:ea typeface="Microsoft YaHei"/>
              </a:rPr>
              <a:t>操作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</p:txBody>
      </p:sp>
      <p:sp>
        <p:nvSpPr>
          <p:cNvPr id="23" name="AutoShape 22"/>
          <p:cNvSpPr/>
          <p:nvPr/>
        </p:nvSpPr>
        <p:spPr>
          <a:xfrm>
            <a:off x="285750" y="4552950"/>
            <a:ext cx="8572500" cy="355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zh-CN" altLang="en-US" sz="1600" dirty="0">
                <a:latin typeface="Noto Sans SC"/>
                <a:ea typeface="Noto Sans SC"/>
                <a:cs typeface="Noto Sans SC"/>
                <a:sym typeface="Noto Sans SC"/>
              </a:rPr>
              <a:t>这些功能共同构成了一个强大的 </a:t>
            </a:r>
            <a:r>
              <a:rPr lang="en-US" altLang="zh-CN" sz="1600" dirty="0"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600" dirty="0">
                <a:latin typeface="Noto Sans SC"/>
                <a:ea typeface="Noto Sans SC"/>
                <a:cs typeface="Noto Sans SC"/>
                <a:sym typeface="Noto Sans SC"/>
              </a:rPr>
              <a:t>开发环境</a:t>
            </a:r>
            <a:r>
              <a:rPr lang="en-US" altLang="zh-CN" sz="1600" dirty="0"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600" dirty="0">
                <a:latin typeface="Noto Sans SC"/>
                <a:ea typeface="Noto Sans SC"/>
                <a:cs typeface="Noto Sans SC"/>
                <a:sym typeface="Noto Sans SC"/>
              </a:rPr>
              <a:t>覆盖记录、规范、交付全流程。</a:t>
            </a:r>
          </a:p>
        </p:txBody>
      </p:sp>
      <p:sp>
        <p:nvSpPr>
          <p:cNvPr id="24" name="AutoShape 4"/>
          <p:cNvSpPr/>
          <p:nvPr/>
        </p:nvSpPr>
        <p:spPr>
          <a:xfrm>
            <a:off x="285750" y="1346200"/>
            <a:ext cx="2794000" cy="2984500"/>
          </a:xfrm>
          <a:prstGeom prst="roundRect">
            <a:avLst>
              <a:gd name="adj" fmla="val 0"/>
            </a:avLst>
          </a:prstGeom>
          <a:solidFill>
            <a:srgbClr val="C00000">
              <a:alpha val="6000"/>
            </a:srgbClr>
          </a:solidFill>
          <a:ln cap="flat" cmpd="sng">
            <a:solidFill>
              <a:srgbClr val="A700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5"/>
          <p:cNvSpPr/>
          <p:nvPr/>
        </p:nvSpPr>
        <p:spPr>
          <a:xfrm>
            <a:off x="285750" y="1346200"/>
            <a:ext cx="50800" cy="2984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cap="flat" cmpd="sng">
            <a:solidFill>
              <a:srgbClr val="A700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6"/>
          <p:cNvSpPr/>
          <p:nvPr/>
        </p:nvSpPr>
        <p:spPr>
          <a:xfrm>
            <a:off x="476250" y="1536700"/>
            <a:ext cx="2476500" cy="533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50800" tIns="25400" rIns="50800" bIns="25400" rtlCol="0" anchor="ctr" anchorCtr="0"/>
          <a:lstStyle/>
          <a:p>
            <a:pPr marL="0" indent="0" algn="l">
              <a:lnSpc>
                <a:spcPct val="95833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工程备忘</a:t>
            </a:r>
            <a:endParaRPr lang="en-US" sz="1100"/>
          </a:p>
          <a:p>
            <a:pPr marL="0" indent="0" algn="l">
              <a:lnSpc>
                <a:spcPct val="95833"/>
              </a:lnSpc>
            </a:pPr>
            <a:r>
              <a:rPr lang="en-US" sz="1300" b="0" i="0" u="none" strike="noStrike">
                <a:solidFill>
                  <a:srgbClr val="78787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Markdown</a:t>
            </a:r>
          </a:p>
        </p:txBody>
      </p:sp>
      <p:cxnSp>
        <p:nvCxnSpPr>
          <p:cNvPr id="27" name="Connector 7"/>
          <p:cNvCxnSpPr/>
          <p:nvPr/>
        </p:nvCxnSpPr>
        <p:spPr>
          <a:xfrm rot="-18093">
            <a:off x="476267" y="22288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00000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8"/>
          <p:cNvSpPr/>
          <p:nvPr/>
        </p:nvSpPr>
        <p:spPr>
          <a:xfrm>
            <a:off x="476250" y="2387600"/>
            <a:ext cx="2476500" cy="1206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1F2A3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在Markdown中记录对话，跨会话续聊，避免丢失上下文和思路。</a:t>
            </a:r>
            <a:endParaRPr lang="en-US" sz="1100"/>
          </a:p>
        </p:txBody>
      </p:sp>
      <p:sp>
        <p:nvSpPr>
          <p:cNvPr id="29" name="AutoShape 9"/>
          <p:cNvSpPr/>
          <p:nvPr/>
        </p:nvSpPr>
        <p:spPr>
          <a:xfrm>
            <a:off x="3333750" y="1346200"/>
            <a:ext cx="2794000" cy="2984500"/>
          </a:xfrm>
          <a:prstGeom prst="roundRect">
            <a:avLst>
              <a:gd name="adj" fmla="val 0"/>
            </a:avLst>
          </a:prstGeom>
          <a:solidFill>
            <a:srgbClr val="C00000">
              <a:alpha val="6000"/>
            </a:srgbClr>
          </a:solidFill>
          <a:ln cap="flat" cmpd="sng">
            <a:solidFill>
              <a:srgbClr val="A700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0"/>
          <p:cNvSpPr/>
          <p:nvPr/>
        </p:nvSpPr>
        <p:spPr>
          <a:xfrm>
            <a:off x="3333750" y="1346200"/>
            <a:ext cx="50800" cy="2984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cap="flat" cmpd="sng">
            <a:solidFill>
              <a:srgbClr val="A700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11"/>
          <p:cNvSpPr/>
          <p:nvPr/>
        </p:nvSpPr>
        <p:spPr>
          <a:xfrm>
            <a:off x="3524250" y="1536700"/>
            <a:ext cx="2476500" cy="533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50800" tIns="25400" rIns="50800" bIns="25400" rtlCol="0" anchor="ctr" anchorCtr="0"/>
          <a:lstStyle/>
          <a:p>
            <a:pPr marL="0" indent="0" algn="l">
              <a:lnSpc>
                <a:spcPct val="95833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规则 / Skills</a:t>
            </a:r>
            <a:endParaRPr lang="en-US" sz="1100"/>
          </a:p>
          <a:p>
            <a:pPr marL="0" indent="0" algn="l">
              <a:lnSpc>
                <a:spcPct val="95833"/>
              </a:lnSpc>
            </a:pPr>
            <a:r>
              <a:rPr lang="en-US" sz="1300" b="0" i="0" u="none" strike="noStrike">
                <a:solidFill>
                  <a:srgbClr val="78787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规范固化</a:t>
            </a:r>
          </a:p>
        </p:txBody>
      </p:sp>
      <p:cxnSp>
        <p:nvCxnSpPr>
          <p:cNvPr id="32" name="Connector 12"/>
          <p:cNvCxnSpPr/>
          <p:nvPr/>
        </p:nvCxnSpPr>
        <p:spPr>
          <a:xfrm rot="-18093">
            <a:off x="3524267" y="22288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00000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13"/>
          <p:cNvSpPr/>
          <p:nvPr/>
        </p:nvSpPr>
        <p:spPr>
          <a:xfrm>
            <a:off x="3524250" y="2387600"/>
            <a:ext cx="2476500" cy="1206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1F2A3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固化团队规范，如代码提交信息格式、PR审查流程、设计模式使用习惯。</a:t>
            </a:r>
            <a:endParaRPr lang="en-US" sz="1100"/>
          </a:p>
        </p:txBody>
      </p:sp>
      <p:sp>
        <p:nvSpPr>
          <p:cNvPr id="34" name="AutoShape 14"/>
          <p:cNvSpPr/>
          <p:nvPr/>
        </p:nvSpPr>
        <p:spPr>
          <a:xfrm>
            <a:off x="6381750" y="1346200"/>
            <a:ext cx="2540000" cy="2984500"/>
          </a:xfrm>
          <a:prstGeom prst="roundRect">
            <a:avLst>
              <a:gd name="adj" fmla="val 0"/>
            </a:avLst>
          </a:prstGeom>
          <a:solidFill>
            <a:srgbClr val="C00000">
              <a:alpha val="6000"/>
            </a:srgbClr>
          </a:solidFill>
          <a:ln cap="flat" cmpd="sng">
            <a:solidFill>
              <a:srgbClr val="A700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15"/>
          <p:cNvSpPr/>
          <p:nvPr/>
        </p:nvSpPr>
        <p:spPr>
          <a:xfrm>
            <a:off x="6381750" y="1346200"/>
            <a:ext cx="50800" cy="2984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cap="flat" cmpd="sng">
            <a:solidFill>
              <a:srgbClr val="A700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16"/>
          <p:cNvSpPr/>
          <p:nvPr/>
        </p:nvSpPr>
        <p:spPr>
          <a:xfrm>
            <a:off x="6572250" y="1536700"/>
            <a:ext cx="2222500" cy="533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50800" tIns="25400" rIns="50800" bIns="25400" rtlCol="0" anchor="ctr" anchorCtr="0"/>
          <a:lstStyle/>
          <a:p>
            <a:pPr marL="0" indent="0" algn="l">
              <a:lnSpc>
                <a:spcPct val="95833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产出物</a:t>
            </a:r>
            <a:endParaRPr lang="en-US" sz="1100"/>
          </a:p>
          <a:p>
            <a:pPr marL="0" indent="0" algn="l">
              <a:lnSpc>
                <a:spcPct val="95833"/>
              </a:lnSpc>
            </a:pPr>
            <a:r>
              <a:rPr lang="en-US" sz="1300" b="0" i="0" u="none" strike="noStrike">
                <a:solidFill>
                  <a:srgbClr val="78787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丰富多样</a:t>
            </a:r>
          </a:p>
        </p:txBody>
      </p:sp>
      <p:cxnSp>
        <p:nvCxnSpPr>
          <p:cNvPr id="37" name="Connector 17"/>
          <p:cNvCxnSpPr/>
          <p:nvPr/>
        </p:nvCxnSpPr>
        <p:spPr>
          <a:xfrm rot="-20221">
            <a:off x="6572269" y="22288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00000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18"/>
          <p:cNvSpPr/>
          <p:nvPr/>
        </p:nvSpPr>
        <p:spPr>
          <a:xfrm>
            <a:off x="6572250" y="2387600"/>
            <a:ext cx="2222500" cy="1460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1F2A3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根据算法说明文档，直接生成C工程代码、Word报告或PPT汇报材料。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407927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3609975" y="342901"/>
            <a:ext cx="23336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000" dirty="0">
                <a:latin typeface="华文琥珀" pitchFamily="2" charset="-122"/>
                <a:ea typeface="华文琥珀" pitchFamily="2" charset="-122"/>
              </a:rPr>
              <a:t>目  录</a:t>
            </a:r>
          </a:p>
        </p:txBody>
      </p:sp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928687" y="1357412"/>
            <a:ext cx="7324061" cy="2769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01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引入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02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：基础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原理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03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：架构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与状态机设计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04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：开发工具和使用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05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：成果</a:t>
            </a:r>
            <a:r>
              <a:rPr lang="zh-CN" altLang="en-US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和代码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256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3609975" y="342901"/>
            <a:ext cx="23336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000" dirty="0">
                <a:latin typeface="华文琥珀" pitchFamily="2" charset="-122"/>
                <a:ea typeface="华文琥珀" pitchFamily="2" charset="-122"/>
              </a:rPr>
              <a:t>目  录</a:t>
            </a:r>
          </a:p>
        </p:txBody>
      </p:sp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928688" y="1357412"/>
            <a:ext cx="4857750" cy="276998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01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引入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02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：基础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原理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03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：架构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与状态机设计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04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：开发工具和使用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05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 ：成果</a:t>
            </a:r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和代码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92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1172497" y="2234379"/>
            <a:ext cx="3362632" cy="1224116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85750" y="323850"/>
            <a:ext cx="5072063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五、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成果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和代码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500063" y="928688"/>
            <a:ext cx="828675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b="1" dirty="0" smtClean="0">
                <a:latin typeface="Century Gothic" pitchFamily="34" charset="0"/>
                <a:ea typeface="幼圆" pitchFamily="49" charset="-122"/>
              </a:rPr>
              <a:t>1</a:t>
            </a: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、需求分析和说明书生</a:t>
            </a: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成</a:t>
            </a:r>
            <a:endParaRPr lang="en-US" altLang="zh-CN" sz="1600" b="1" dirty="0">
              <a:latin typeface="Century Gothic" pitchFamily="34" charset="0"/>
              <a:ea typeface="幼圆" pitchFamily="49" charset="-122"/>
            </a:endParaRPr>
          </a:p>
          <a:p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对编写的算法和实例材料进行拆分，形成</a:t>
            </a:r>
            <a:r>
              <a:rPr lang="en-US" altLang="zh-CN" sz="1600" b="1" dirty="0" smtClean="0">
                <a:latin typeface="Century Gothic" pitchFamily="34" charset="0"/>
                <a:ea typeface="幼圆" pitchFamily="49" charset="-122"/>
              </a:rPr>
              <a:t>6</a:t>
            </a: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份文档，其中状态机流转和协议是核心：说明书</a:t>
            </a: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、简要算法说明书、简化版算法的</a:t>
            </a:r>
            <a:r>
              <a:rPr lang="zh-CN" altLang="en-US" sz="1600" b="1" dirty="0">
                <a:latin typeface="Century Gothic" pitchFamily="34" charset="0"/>
                <a:ea typeface="幼圆" pitchFamily="49" charset="-122"/>
              </a:rPr>
              <a:t>实现、通信符号数据报文格式</a:t>
            </a: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、</a:t>
            </a:r>
            <a:r>
              <a:rPr lang="zh-CN" altLang="en-US" sz="1600" b="1" dirty="0">
                <a:latin typeface="Century Gothic" pitchFamily="34" charset="0"/>
                <a:ea typeface="幼圆" pitchFamily="49" charset="-122"/>
              </a:rPr>
              <a:t>状态机和</a:t>
            </a: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流程图、报文状态机对齐补充。产出物为</a:t>
            </a:r>
            <a:r>
              <a:rPr lang="en-US" altLang="zh-CN" sz="1600" b="1" dirty="0" smtClean="0">
                <a:latin typeface="Century Gothic" pitchFamily="34" charset="0"/>
                <a:ea typeface="幼圆" pitchFamily="49" charset="-122"/>
              </a:rPr>
              <a:t>markdown</a:t>
            </a: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文档和阅读性文档。</a:t>
            </a:r>
            <a:endParaRPr lang="en-US" altLang="zh-CN" sz="1600" b="1" dirty="0" smtClean="0">
              <a:latin typeface="Century Gothic" pitchFamily="34" charset="0"/>
              <a:ea typeface="幼圆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7310" y="2258167"/>
            <a:ext cx="464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原始材料</a:t>
            </a:r>
            <a:endParaRPr lang="zh-CN" altLang="en-US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1162669" y="3596115"/>
            <a:ext cx="3372460" cy="1224116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rgbClr val="C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87482" y="3892741"/>
            <a:ext cx="464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产物</a:t>
            </a:r>
            <a:endParaRPr lang="en-US" altLang="zh-CN" b="1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1593525"/>
              </p:ext>
            </p:extLst>
          </p:nvPr>
        </p:nvGraphicFramePr>
        <p:xfrm>
          <a:off x="1392640" y="225816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" name="Document" showAsIcon="1" r:id="rId4" imgW="914400" imgH="792360" progId="Word.Document.8">
                  <p:embed/>
                </p:oleObj>
              </mc:Choice>
              <mc:Fallback>
                <p:oleObj name="Document" showAsIcon="1" r:id="rId4" imgW="914400" imgH="792360" progId="Word.Documen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92640" y="2258167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236355"/>
              </p:ext>
            </p:extLst>
          </p:nvPr>
        </p:nvGraphicFramePr>
        <p:xfrm>
          <a:off x="1383814" y="2816941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" name="Document" showAsIcon="1" r:id="rId6" imgW="914400" imgH="792360" progId="Word.Document.8">
                  <p:embed/>
                </p:oleObj>
              </mc:Choice>
              <mc:Fallback>
                <p:oleObj name="Document" showAsIcon="1" r:id="rId6" imgW="914400" imgH="792360" progId="Word.Documen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83814" y="2816941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897498"/>
              </p:ext>
            </p:extLst>
          </p:nvPr>
        </p:nvGraphicFramePr>
        <p:xfrm>
          <a:off x="2364581" y="225816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" name="文档" showAsIcon="1" r:id="rId8" imgW="914400" imgH="792360" progId="Word.Document.12">
                  <p:embed/>
                </p:oleObj>
              </mc:Choice>
              <mc:Fallback>
                <p:oleObj name="文档" showAsIcon="1" r:id="rId8" imgW="914400" imgH="7923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64581" y="2258167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210468"/>
              </p:ext>
            </p:extLst>
          </p:nvPr>
        </p:nvGraphicFramePr>
        <p:xfrm>
          <a:off x="3323226" y="2803952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0" name="Document" showAsIcon="1" r:id="rId10" imgW="914400" imgH="792360" progId="Word.Document.8">
                  <p:embed/>
                </p:oleObj>
              </mc:Choice>
              <mc:Fallback>
                <p:oleObj name="Document" showAsIcon="1" r:id="rId10" imgW="914400" imgH="792360" progId="Word.Documen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23226" y="2803952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081816"/>
              </p:ext>
            </p:extLst>
          </p:nvPr>
        </p:nvGraphicFramePr>
        <p:xfrm>
          <a:off x="2364581" y="2803952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1" name="Document" showAsIcon="1" r:id="rId12" imgW="914400" imgH="792360" progId="Word.Document.8">
                  <p:embed/>
                </p:oleObj>
              </mc:Choice>
              <mc:Fallback>
                <p:oleObj name="Document" showAsIcon="1" r:id="rId12" imgW="914400" imgH="792360" progId="Word.Documen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64581" y="2803952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66988"/>
              </p:ext>
            </p:extLst>
          </p:nvPr>
        </p:nvGraphicFramePr>
        <p:xfrm>
          <a:off x="3330682" y="227124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2" name="Document" showAsIcon="1" r:id="rId14" imgW="914400" imgH="792360" progId="Word.Document.8">
                  <p:embed/>
                </p:oleObj>
              </mc:Choice>
              <mc:Fallback>
                <p:oleObj name="Document" showAsIcon="1" r:id="rId14" imgW="914400" imgH="792360" progId="Word.Documen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330682" y="2271249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97" name="Picture 225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376" y="2029529"/>
            <a:ext cx="4130040" cy="300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550145"/>
              </p:ext>
            </p:extLst>
          </p:nvPr>
        </p:nvGraphicFramePr>
        <p:xfrm>
          <a:off x="1524000" y="3892741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3" name="包装程序外壳对象" showAsIcon="1" r:id="rId17" imgW="914400" imgH="792360" progId="Package">
                  <p:embed/>
                </p:oleObj>
              </mc:Choice>
              <mc:Fallback>
                <p:oleObj name="包装程序外壳对象" showAsIcon="1" r:id="rId17" imgW="914400" imgH="792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24000" y="3892741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361562"/>
              </p:ext>
            </p:extLst>
          </p:nvPr>
        </p:nvGraphicFramePr>
        <p:xfrm>
          <a:off x="2987040" y="3892741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4" name="Document" showAsIcon="1" r:id="rId19" imgW="914400" imgH="792360" progId="Word.Document.8">
                  <p:embed/>
                </p:oleObj>
              </mc:Choice>
              <mc:Fallback>
                <p:oleObj name="Document" showAsIcon="1" r:id="rId19" imgW="914400" imgH="792360" progId="Word.Documen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987040" y="3892741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628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50" y="323850"/>
            <a:ext cx="5072063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五、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成果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和代码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500063" y="928688"/>
            <a:ext cx="3695853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600" b="1" dirty="0" smtClean="0">
                <a:latin typeface="Century Gothic" pitchFamily="34" charset="0"/>
                <a:ea typeface="幼圆" pitchFamily="49" charset="-122"/>
              </a:rPr>
              <a:t>2</a:t>
            </a: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、准备</a:t>
            </a:r>
            <a:r>
              <a:rPr lang="en-US" altLang="zh-CN" sz="1600" b="1" dirty="0">
                <a:latin typeface="Century Gothic" pitchFamily="34" charset="0"/>
                <a:ea typeface="幼圆" pitchFamily="49" charset="-122"/>
              </a:rPr>
              <a:t>W</a:t>
            </a:r>
            <a:r>
              <a:rPr lang="en-US" altLang="zh-CN" sz="1600" b="1" dirty="0" smtClean="0">
                <a:latin typeface="Century Gothic" pitchFamily="34" charset="0"/>
                <a:ea typeface="幼圆" pitchFamily="49" charset="-122"/>
              </a:rPr>
              <a:t>indows</a:t>
            </a: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开发与测试安装环境</a:t>
            </a:r>
            <a:endParaRPr lang="en-US" altLang="zh-CN" sz="1600" b="1" dirty="0" smtClean="0">
              <a:latin typeface="Century Gothic" pitchFamily="34" charset="0"/>
              <a:ea typeface="幼圆" pitchFamily="49" charset="-122"/>
            </a:endParaRPr>
          </a:p>
          <a:p>
            <a:endParaRPr lang="en-US" altLang="zh-CN" sz="1600" b="1" dirty="0">
              <a:latin typeface="Century Gothic" pitchFamily="34" charset="0"/>
              <a:ea typeface="幼圆" pitchFamily="49" charset="-122"/>
            </a:endParaRPr>
          </a:p>
          <a:p>
            <a:pPr marL="342900" indent="-342900">
              <a:buFont typeface="+mj-lt"/>
              <a:buAutoNum type="alphaLcParenR"/>
            </a:pP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阿里云平台</a:t>
            </a:r>
            <a:r>
              <a:rPr lang="en-US" altLang="zh-CN" sz="1600" b="1" dirty="0">
                <a:latin typeface="Century Gothic" pitchFamily="34" charset="0"/>
                <a:ea typeface="幼圆" pitchFamily="49" charset="-122"/>
              </a:rPr>
              <a:t>W</a:t>
            </a:r>
            <a:r>
              <a:rPr lang="en-US" altLang="zh-CN" sz="1600" b="1" dirty="0" smtClean="0">
                <a:latin typeface="Century Gothic" pitchFamily="34" charset="0"/>
                <a:ea typeface="幼圆" pitchFamily="49" charset="-122"/>
              </a:rPr>
              <a:t>indows 2019</a:t>
            </a: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可以安装，但是用不起来，下一步测试以下阿里</a:t>
            </a:r>
            <a:r>
              <a:rPr lang="en-US" altLang="zh-CN" sz="1600" b="1" dirty="0" smtClean="0">
                <a:latin typeface="Century Gothic" pitchFamily="34" charset="0"/>
                <a:ea typeface="幼圆" pitchFamily="49" charset="-122"/>
              </a:rPr>
              <a:t>Linux</a:t>
            </a: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运行情况（已经支持自然语言交互）。</a:t>
            </a:r>
            <a:endParaRPr lang="en-US" altLang="zh-CN" sz="1600" b="1" dirty="0">
              <a:latin typeface="Century Gothic" pitchFamily="34" charset="0"/>
              <a:ea typeface="幼圆" pitchFamily="49" charset="-122"/>
            </a:endParaRPr>
          </a:p>
          <a:p>
            <a:pPr marL="342900" indent="-342900">
              <a:buFont typeface="+mj-lt"/>
              <a:buAutoNum type="alphaLcParenR"/>
            </a:pPr>
            <a:r>
              <a:rPr lang="zh-CN" altLang="en-US" sz="1600" b="1" dirty="0">
                <a:latin typeface="Century Gothic" pitchFamily="34" charset="0"/>
                <a:ea typeface="幼圆" pitchFamily="49" charset="-122"/>
              </a:rPr>
              <a:t>下载 </a:t>
            </a:r>
            <a:r>
              <a:rPr lang="en-US" altLang="zh-CN" sz="1600" b="1" dirty="0" err="1">
                <a:latin typeface="Century Gothic" pitchFamily="34" charset="0"/>
                <a:ea typeface="幼圆" pitchFamily="49" charset="-122"/>
              </a:rPr>
              <a:t>CMake</a:t>
            </a:r>
            <a:r>
              <a:rPr lang="zh-CN" altLang="en-US" sz="1600" b="1" dirty="0">
                <a:latin typeface="Century Gothic" pitchFamily="34" charset="0"/>
                <a:ea typeface="幼圆" pitchFamily="49" charset="-122"/>
              </a:rPr>
              <a:t>（</a:t>
            </a:r>
            <a:r>
              <a:rPr lang="en-US" altLang="zh-CN" sz="1600" b="1" dirty="0">
                <a:latin typeface="Century Gothic" pitchFamily="34" charset="0"/>
                <a:ea typeface="幼圆" pitchFamily="49" charset="-122"/>
              </a:rPr>
              <a:t>zip</a:t>
            </a:r>
            <a:r>
              <a:rPr lang="zh-CN" altLang="en-US" sz="1600" b="1" dirty="0">
                <a:latin typeface="Century Gothic" pitchFamily="34" charset="0"/>
                <a:ea typeface="幼圆" pitchFamily="49" charset="-122"/>
              </a:rPr>
              <a:t>）与 </a:t>
            </a:r>
            <a:r>
              <a:rPr lang="en-US" altLang="zh-CN" sz="1600" b="1" dirty="0" err="1">
                <a:latin typeface="Century Gothic" pitchFamily="34" charset="0"/>
                <a:ea typeface="幼圆" pitchFamily="49" charset="-122"/>
              </a:rPr>
              <a:t>WinLibs</a:t>
            </a:r>
            <a:r>
              <a:rPr lang="en-US" altLang="zh-CN" sz="1600" b="1" dirty="0">
                <a:latin typeface="Century Gothic" pitchFamily="34" charset="0"/>
                <a:ea typeface="幼圆" pitchFamily="49" charset="-122"/>
              </a:rPr>
              <a:t> </a:t>
            </a:r>
            <a:r>
              <a:rPr lang="en-US" altLang="zh-CN" sz="1600" b="1" dirty="0" err="1">
                <a:latin typeface="Century Gothic" pitchFamily="34" charset="0"/>
                <a:ea typeface="幼圆" pitchFamily="49" charset="-122"/>
              </a:rPr>
              <a:t>MinGW</a:t>
            </a:r>
            <a:r>
              <a:rPr lang="zh-CN" altLang="en-US" sz="1600" b="1" dirty="0">
                <a:latin typeface="Century Gothic" pitchFamily="34" charset="0"/>
                <a:ea typeface="幼圆" pitchFamily="49" charset="-122"/>
              </a:rPr>
              <a:t>（</a:t>
            </a:r>
            <a:r>
              <a:rPr lang="en-US" altLang="zh-CN" sz="1600" b="1" dirty="0">
                <a:latin typeface="Century Gothic" pitchFamily="34" charset="0"/>
                <a:ea typeface="幼圆" pitchFamily="49" charset="-122"/>
              </a:rPr>
              <a:t>zip</a:t>
            </a:r>
            <a:r>
              <a:rPr lang="zh-CN" altLang="en-US" sz="1600" b="1" dirty="0">
                <a:latin typeface="Century Gothic" pitchFamily="34" charset="0"/>
                <a:ea typeface="幼圆" pitchFamily="49" charset="-122"/>
              </a:rPr>
              <a:t>），完善本地开发</a:t>
            </a: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环境。</a:t>
            </a:r>
            <a:endParaRPr lang="en-US" altLang="zh-CN" sz="1600" b="1" dirty="0" smtClean="0">
              <a:latin typeface="Century Gothic" pitchFamily="34" charset="0"/>
              <a:ea typeface="幼圆" pitchFamily="49" charset="-122"/>
            </a:endParaRPr>
          </a:p>
          <a:p>
            <a:pPr marL="342900" indent="-342900">
              <a:buFont typeface="+mj-lt"/>
              <a:buAutoNum type="alphaLcParenR"/>
            </a:pPr>
            <a:r>
              <a:rPr lang="zh-CN" altLang="en-US" sz="1600" b="1" smtClean="0">
                <a:latin typeface="Century Gothic" pitchFamily="34" charset="0"/>
                <a:ea typeface="幼圆" pitchFamily="49" charset="-122"/>
              </a:rPr>
              <a:t>进行本地环境测试。</a:t>
            </a:r>
            <a:endParaRPr lang="en-US" altLang="zh-CN" sz="1600" b="1" dirty="0">
              <a:latin typeface="Century Gothic" pitchFamily="34" charset="0"/>
              <a:ea typeface="幼圆" pitchFamily="49" charset="-122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973" y="707463"/>
            <a:ext cx="3908323" cy="2168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973" y="2964167"/>
            <a:ext cx="3896879" cy="1856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4051" y="323850"/>
            <a:ext cx="2702948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296" y="1892012"/>
            <a:ext cx="3855700" cy="3031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71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677" y="1318258"/>
            <a:ext cx="5865588" cy="3593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85750" y="323850"/>
            <a:ext cx="5072063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五、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成果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和代码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5" name="TextBox 10"/>
          <p:cNvSpPr txBox="1">
            <a:spLocks noChangeArrowheads="1"/>
          </p:cNvSpPr>
          <p:nvPr/>
        </p:nvSpPr>
        <p:spPr bwMode="auto">
          <a:xfrm>
            <a:off x="500063" y="928688"/>
            <a:ext cx="82867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b="1" dirty="0" smtClean="0">
                <a:latin typeface="Century Gothic" pitchFamily="34" charset="0"/>
                <a:ea typeface="幼圆" pitchFamily="49" charset="-122"/>
              </a:rPr>
              <a:t>1</a:t>
            </a: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、需求分析和说明书生</a:t>
            </a:r>
            <a:r>
              <a:rPr lang="zh-CN" altLang="en-US" sz="1600" b="1" dirty="0" smtClean="0">
                <a:latin typeface="Century Gothic" pitchFamily="34" charset="0"/>
                <a:ea typeface="幼圆" pitchFamily="49" charset="-122"/>
              </a:rPr>
              <a:t>成</a:t>
            </a:r>
            <a:endParaRPr lang="en-US" altLang="zh-CN" sz="1600" b="1" dirty="0">
              <a:latin typeface="Century Gothic" pitchFamily="34" charset="0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4780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993062" y="3099076"/>
            <a:ext cx="3406218" cy="1594499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rgbClr val="C00000"/>
              </a:solidFill>
            </a:endParaRPr>
          </a:p>
        </p:txBody>
      </p:sp>
      <p:sp>
        <p:nvSpPr>
          <p:cNvPr id="3" name="TextBox 10"/>
          <p:cNvSpPr txBox="1">
            <a:spLocks noChangeArrowheads="1"/>
          </p:cNvSpPr>
          <p:nvPr/>
        </p:nvSpPr>
        <p:spPr bwMode="auto">
          <a:xfrm>
            <a:off x="500063" y="928688"/>
            <a:ext cx="4661872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latin typeface="Century Gothic" pitchFamily="34" charset="0"/>
                <a:ea typeface="幼圆" pitchFamily="49" charset="-122"/>
              </a:rPr>
              <a:t>2</a:t>
            </a:r>
            <a:r>
              <a:rPr lang="zh-CN" altLang="en-US" b="1" dirty="0" smtClean="0">
                <a:latin typeface="Century Gothic" pitchFamily="34" charset="0"/>
                <a:ea typeface="幼圆" pitchFamily="49" charset="-122"/>
              </a:rPr>
              <a:t>、</a:t>
            </a:r>
            <a:r>
              <a:rPr lang="zh-CN" altLang="en-US" b="1" dirty="0" smtClean="0">
                <a:latin typeface="Century Gothic" pitchFamily="34" charset="0"/>
                <a:ea typeface="幼圆" pitchFamily="49" charset="-122"/>
              </a:rPr>
              <a:t>开发</a:t>
            </a:r>
            <a:r>
              <a:rPr lang="zh-CN" altLang="en-US" b="1" dirty="0">
                <a:latin typeface="Century Gothic" pitchFamily="34" charset="0"/>
                <a:ea typeface="幼圆" pitchFamily="49" charset="-122"/>
              </a:rPr>
              <a:t>工程</a:t>
            </a:r>
            <a:r>
              <a:rPr lang="zh-CN" altLang="en-US" b="1" dirty="0" smtClean="0">
                <a:latin typeface="Century Gothic" pitchFamily="34" charset="0"/>
                <a:ea typeface="幼圆" pitchFamily="49" charset="-122"/>
              </a:rPr>
              <a:t>树</a:t>
            </a:r>
            <a:endParaRPr lang="en-US" altLang="zh-CN" b="1" dirty="0" smtClean="0">
              <a:latin typeface="Century Gothic" pitchFamily="34" charset="0"/>
              <a:ea typeface="幼圆" pitchFamily="49" charset="-122"/>
            </a:endParaRPr>
          </a:p>
          <a:p>
            <a:r>
              <a:rPr lang="zh-CN" altLang="en-US" sz="1200" b="1" dirty="0" smtClean="0">
                <a:latin typeface="Century Gothic" pitchFamily="34" charset="0"/>
                <a:ea typeface="幼圆" pitchFamily="49" charset="-122"/>
              </a:rPr>
              <a:t>在上述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需求分析和</a:t>
            </a:r>
            <a:r>
              <a:rPr lang="zh-CN" altLang="en-US" sz="1200" b="1" dirty="0" smtClean="0">
                <a:latin typeface="Century Gothic" pitchFamily="34" charset="0"/>
                <a:ea typeface="幼圆" pitchFamily="49" charset="-122"/>
              </a:rPr>
              <a:t>说明书基础上，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生成开发工程</a:t>
            </a:r>
            <a:r>
              <a:rPr lang="zh-CN" altLang="en-US" sz="1200" b="1" dirty="0" smtClean="0">
                <a:latin typeface="Century Gothic" pitchFamily="34" charset="0"/>
                <a:ea typeface="幼圆" pitchFamily="49" charset="-122"/>
              </a:rPr>
              <a:t>树：</a:t>
            </a:r>
            <a:endParaRPr lang="en-US" altLang="zh-CN" sz="1200" b="1" dirty="0" smtClean="0">
              <a:latin typeface="Century Gothic" pitchFamily="34" charset="0"/>
              <a:ea typeface="幼圆" pitchFamily="49" charset="-122"/>
            </a:endParaRPr>
          </a:p>
          <a:p>
            <a:pPr marL="228600" indent="-228600">
              <a:buFont typeface="+mj-lt"/>
              <a:buAutoNum type="alphaLcParenR"/>
            </a:pPr>
            <a:r>
              <a:rPr lang="zh-CN" altLang="en-US" sz="1200" b="1" dirty="0" smtClean="0">
                <a:latin typeface="Century Gothic" pitchFamily="34" charset="0"/>
                <a:ea typeface="幼圆" pitchFamily="49" charset="-122"/>
              </a:rPr>
              <a:t>协议 </a:t>
            </a:r>
            <a:r>
              <a:rPr lang="en-US" altLang="zh-CN" sz="1200" b="1" dirty="0" smtClean="0">
                <a:latin typeface="Century Gothic" pitchFamily="34" charset="0"/>
                <a:ea typeface="幼圆" pitchFamily="49" charset="-122"/>
              </a:rPr>
              <a:t>0x01-0x08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、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FSM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、时钟、测量、中位数共识、恢复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/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密码学桩、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UDP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（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+ TCC 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用 </a:t>
            </a:r>
            <a:r>
              <a:rPr lang="en-US" altLang="zh-CN" sz="1200" b="1" dirty="0" err="1">
                <a:latin typeface="Century Gothic" pitchFamily="34" charset="0"/>
                <a:ea typeface="幼圆" pitchFamily="49" charset="-122"/>
              </a:rPr>
              <a:t>udp_stub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）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 b="1" dirty="0" smtClean="0">
                <a:latin typeface="Century Gothic" pitchFamily="34" charset="0"/>
                <a:ea typeface="幼圆" pitchFamily="49" charset="-122"/>
              </a:rPr>
              <a:t>应用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：</a:t>
            </a:r>
            <a:r>
              <a:rPr lang="en-US" altLang="zh-CN" sz="1200" b="1" dirty="0" err="1">
                <a:latin typeface="Century Gothic" pitchFamily="34" charset="0"/>
                <a:ea typeface="幼圆" pitchFamily="49" charset="-122"/>
              </a:rPr>
              <a:t>dsntp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-agent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（主闭环 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TODO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）、</a:t>
            </a:r>
            <a:r>
              <a:rPr lang="en-US" altLang="zh-CN" sz="1200" b="1" dirty="0" err="1">
                <a:latin typeface="Century Gothic" pitchFamily="34" charset="0"/>
                <a:ea typeface="幼圆" pitchFamily="49" charset="-122"/>
              </a:rPr>
              <a:t>dsntp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-time-shim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、</a:t>
            </a:r>
            <a:r>
              <a:rPr lang="en-US" altLang="zh-CN" sz="1200" b="1" dirty="0" err="1">
                <a:latin typeface="Century Gothic" pitchFamily="34" charset="0"/>
                <a:ea typeface="幼圆" pitchFamily="49" charset="-122"/>
              </a:rPr>
              <a:t>dsntp-ctl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（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HTTP JSON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，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apps/</a:t>
            </a:r>
            <a:r>
              <a:rPr lang="en-US" altLang="zh-CN" sz="1200" b="1" dirty="0" err="1">
                <a:latin typeface="Century Gothic" pitchFamily="34" charset="0"/>
                <a:ea typeface="幼圆" pitchFamily="49" charset="-122"/>
              </a:rPr>
              <a:t>ctl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/</a:t>
            </a:r>
            <a:r>
              <a:rPr lang="en-US" altLang="zh-CN" sz="1200" b="1" dirty="0" err="1">
                <a:latin typeface="Century Gothic" pitchFamily="34" charset="0"/>
                <a:ea typeface="幼圆" pitchFamily="49" charset="-122"/>
              </a:rPr>
              <a:t>main.c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）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 b="1" dirty="0" smtClean="0">
                <a:latin typeface="Century Gothic" pitchFamily="34" charset="0"/>
                <a:ea typeface="幼圆" pitchFamily="49" charset="-122"/>
              </a:rPr>
              <a:t>契约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：</a:t>
            </a:r>
            <a:r>
              <a:rPr lang="en-US" altLang="zh-CN" sz="1200" b="1" dirty="0" err="1">
                <a:latin typeface="Century Gothic" pitchFamily="34" charset="0"/>
                <a:ea typeface="幼圆" pitchFamily="49" charset="-122"/>
              </a:rPr>
              <a:t>api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/</a:t>
            </a:r>
            <a:r>
              <a:rPr lang="en-US" altLang="zh-CN" sz="1200" b="1" dirty="0" err="1">
                <a:latin typeface="Century Gothic" pitchFamily="34" charset="0"/>
                <a:ea typeface="幼圆" pitchFamily="49" charset="-122"/>
              </a:rPr>
              <a:t>agent.proto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、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openapi-v1.yaml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 b="1" dirty="0" smtClean="0">
                <a:latin typeface="Century Gothic" pitchFamily="34" charset="0"/>
                <a:ea typeface="幼圆" pitchFamily="49" charset="-122"/>
              </a:rPr>
              <a:t>指导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：</a:t>
            </a:r>
            <a:r>
              <a:rPr lang="en-US" altLang="zh-CN" sz="1200" b="1" dirty="0" smtClean="0">
                <a:latin typeface="Century Gothic" pitchFamily="34" charset="0"/>
                <a:ea typeface="幼圆" pitchFamily="49" charset="-122"/>
              </a:rPr>
              <a:t>docs/01-05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（系统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/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模块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/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组件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/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接口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/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填空顺序）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 b="1" dirty="0" smtClean="0">
                <a:latin typeface="Century Gothic" pitchFamily="34" charset="0"/>
                <a:ea typeface="幼圆" pitchFamily="49" charset="-122"/>
              </a:rPr>
              <a:t>构建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：</a:t>
            </a:r>
            <a:r>
              <a:rPr lang="en-US" altLang="zh-CN" sz="1200" b="1" dirty="0">
                <a:latin typeface="Century Gothic" pitchFamily="34" charset="0"/>
                <a:ea typeface="幼圆" pitchFamily="49" charset="-122"/>
              </a:rPr>
              <a:t>CMakeLists.txt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、</a:t>
            </a:r>
            <a:r>
              <a:rPr lang="en-US" altLang="zh-CN" sz="1200" b="1" dirty="0" err="1">
                <a:latin typeface="Century Gothic" pitchFamily="34" charset="0"/>
                <a:ea typeface="幼圆" pitchFamily="49" charset="-122"/>
              </a:rPr>
              <a:t>Makefile</a:t>
            </a:r>
            <a:r>
              <a:rPr lang="zh-CN" altLang="en-US" sz="1200" b="1" dirty="0">
                <a:latin typeface="Century Gothic" pitchFamily="34" charset="0"/>
                <a:ea typeface="幼圆" pitchFamily="49" charset="-122"/>
              </a:rPr>
              <a:t>、</a:t>
            </a:r>
            <a:r>
              <a:rPr lang="en-US" altLang="zh-CN" sz="1200" b="1" dirty="0" smtClean="0">
                <a:latin typeface="Century Gothic" pitchFamily="34" charset="0"/>
                <a:ea typeface="幼圆" pitchFamily="49" charset="-122"/>
              </a:rPr>
              <a:t>scripts/build_tcc.ps1</a:t>
            </a:r>
            <a:endParaRPr lang="en-US" altLang="zh-CN" sz="1200" b="1" dirty="0">
              <a:latin typeface="Century Gothic" pitchFamily="34" charset="0"/>
              <a:ea typeface="幼圆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50" y="323850"/>
            <a:ext cx="5072063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五、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成果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sym typeface="+mn-lt"/>
              </a:rPr>
              <a:t>和代码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7875" y="3395703"/>
            <a:ext cx="464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产物</a:t>
            </a:r>
            <a:endParaRPr lang="en-US" altLang="zh-CN" b="1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124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661" y="928688"/>
            <a:ext cx="3818374" cy="3956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012418"/>
              </p:ext>
            </p:extLst>
          </p:nvPr>
        </p:nvGraphicFramePr>
        <p:xfrm>
          <a:off x="2557662" y="3500243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6" name="包装程序外壳对象" showAsIcon="1" r:id="rId4" imgW="914400" imgH="792360" progId="Package">
                  <p:embed/>
                </p:oleObj>
              </mc:Choice>
              <mc:Fallback>
                <p:oleObj name="包装程序外壳对象" showAsIcon="1" r:id="rId4" imgW="914400" imgH="792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57662" y="3500243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607177"/>
              </p:ext>
            </p:extLst>
          </p:nvPr>
        </p:nvGraphicFramePr>
        <p:xfrm>
          <a:off x="1212748" y="3500243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7" name="包装程序外壳对象" showAsIcon="1" r:id="rId6" imgW="914400" imgH="792360" progId="Package">
                  <p:embed/>
                </p:oleObj>
              </mc:Choice>
              <mc:Fallback>
                <p:oleObj name="包装程序外壳对象" showAsIcon="1" r:id="rId6" imgW="914400" imgH="792360" progId="Package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748" y="3500243"/>
                        <a:ext cx="9144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826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3C 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>
            <a:latin typeface="+mn-ea"/>
            <a:ea typeface="+mn-ea"/>
          </a:defRPr>
        </a:defPPr>
      </a:lstStyle>
    </a:tx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H3C战略Marketing 16v9 PPT主题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H3C战略Marketing 16v9 PPT主题" id="{95D3B1A9-93C8-409D-9F85-8E4673465176}" vid="{F7561BC3-2C15-4B2D-8E9F-8297548A1F40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40338</TotalTime>
  <Words>2154</Words>
  <Application>Microsoft Office PowerPoint</Application>
  <PresentationFormat>全屏显示(16:9)</PresentationFormat>
  <Paragraphs>312</Paragraphs>
  <Slides>31</Slides>
  <Notes>3</Notes>
  <HiddenSlides>0</HiddenSlides>
  <MMClips>0</MMClips>
  <ScaleCrop>false</ScaleCrop>
  <HeadingPairs>
    <vt:vector size="6" baseType="variant">
      <vt:variant>
        <vt:lpstr>主题</vt:lpstr>
      </vt:variant>
      <vt:variant>
        <vt:i4>3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1_Office 主题</vt:lpstr>
      <vt:lpstr>H3C white</vt:lpstr>
      <vt:lpstr>H3C战略Marketing 16v9 PPT主题</vt:lpstr>
      <vt:lpstr>Document</vt:lpstr>
      <vt:lpstr>文档</vt:lpstr>
      <vt:lpstr>包装程序外壳对象</vt:lpstr>
      <vt:lpstr>Microsoft Word 97 - 2003 文档</vt:lpstr>
      <vt:lpstr>程序包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Cursor 中的 repos（Repositories，代码仓库） 核心是管理、索引、关联本地 / 远程 Git 仓库，让 AI 能跨仓库理解代码上下文，实现多项目协同开发与自动化任务。 一、核心功能 仓库管理与索引 加载本地 Git 仓库，自动扫描、索引代码文件、依赖、提交历史，让 AI 理解项目结构。 支持多仓库（Multi-repo）：添加多个独立仓库到工作区，AI 可同时读取、跨仓库推理。 支持单体仓库（Monorepo）：适配大型单仓库多模块项目，精准索引子目录。 AI 上下文增强 让 Cursor AI/Cloud Agent 拥有完整跨仓库代码上下文，理解微服务、前后端、共享库的关联Cursor。 支持跨仓库代码补全、重构、查错、生成文档，无需手动切换项目。 远程仓库集成（GitHub/GitLab） 绑定 GitHub 账号，一键拉取、同步远程仓库，支持 PR 查看、评论、合并Cursor。 Cloud Agent 可直接在云端操作关联仓库，自动提交修复、创建 PRCursor。 自动化与批量操作 配置多仓库自动化任务（如批量更新依赖、统一代码规范）。 通过 API/CLI 批量获取、筛选、操作仓库（get_repos、Cursor.repositories.list）。 规则与权限控制 用 .cursorrules 定义仓库级 AI 行为（如忽略文件、代码风格）。 控制 AI 对仓库的读写权限，保障代码安全Cursor。 二、典型使用场景 微服务开发：同时操作后端、前端、共享库，AI 自动关联跨服务逻辑Cursor。 大型项目重构：跨模块批量修改、统一接口，AI 评估影响范围。 开源协作：快速索引多个依赖仓库，理解整体代码生态。 CI/CD 集成：自动触发多仓库构建、测试、部署Cursor。 三、操作入口 本地：File &gt; Open Folder / Add Folder to Workspace 加载多仓库。 远程：Ctrl+Shift+P → Clone Repository 克隆远程仓库。 云端：Dashboard → Integrations → GitHub 绑定并管理仓库Cursor。 需要我给你一份在 Cursor 中添加多仓库工作区并配置 .cursorrules 的快速上手步骤吗？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 shang</dc:creator>
  <cp:lastModifiedBy>微软用户</cp:lastModifiedBy>
  <cp:revision>2221</cp:revision>
  <dcterms:created xsi:type="dcterms:W3CDTF">2013-11-09T08:05:37Z</dcterms:created>
  <dcterms:modified xsi:type="dcterms:W3CDTF">2026-08-10T14:00:12Z</dcterms:modified>
</cp:coreProperties>
</file>